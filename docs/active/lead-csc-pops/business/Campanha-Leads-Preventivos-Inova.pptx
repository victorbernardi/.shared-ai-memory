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1645920" cy="457200"/>
          </a:xfrm>
          <a:prstGeom prst="rect">
            <a:avLst/>
          </a:prstGeom>
        </p:spPr>
      </p:pic>
      <p:pic>
        <p:nvPicPr>
          <p:cNvPr id="4" name="Picture 3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91440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CAMPANHA DE LEADS PREVENTIVOS DE PEÇAS</a:t>
            </a:r>
          </a:p>
          <a:p>
            <a:pPr algn="ctr">
              <a:spcBef>
                <a:spcPts val="1400"/>
              </a:spcBef>
              <a:defRPr sz="2000" b="1">
                <a:solidFill>
                  <a:srgbClr val="FFC20E"/>
                </a:solidFill>
                <a:latin typeface="Segoe UI"/>
              </a:defRPr>
            </a:pPr>
            <a:r>
              <a:t>FPS &amp; Material Rodante — Inova Máquinas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206240"/>
            <a:ext cx="5760720" cy="4572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CA3AF"/>
                </a:solidFill>
                <a:latin typeface="Segoe UI"/>
              </a:defRPr>
            </a:pPr>
            <a:r>
              <a:t>Motor automatizado de geração de leads com base em horímetros de máquinas John Deere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DIAGNÓSTICO COMERCIAL // PEÇAS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 CUSTO DO PROCESSO REATIVO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SITUAÇÃO ATUAL</a:t>
            </a:r>
          </a:p>
          <a:p>
            <a:pPr>
              <a:spcBef>
                <a:spcPts val="800"/>
              </a:spcBef>
              <a:defRPr sz="1050" b="0">
                <a:solidFill>
                  <a:srgbClr val="FFFFFF"/>
                </a:solidFill>
                <a:latin typeface="Segoe UI"/>
              </a:defRPr>
            </a:pPr>
            <a:r>
              <a:t>O cliente liga quando a peça quebra — ou não liga e vai ao concorrente.</a:t>
            </a:r>
          </a:p>
          <a:p>
            <a:pPr>
              <a:spcBef>
                <a:spcPts val="10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Nenhum consultor recebe alerta automático de desgaste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O contato depende da memória do vendedor ou do cliente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Peças compradas em emergência vão para o fornecedor mais rápido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• Não há como auditar se o contato foi feito e gerou proposta</a:t>
            </a:r>
          </a:p>
          <a:p>
            <a:pPr>
              <a:spcBef>
                <a:spcPts val="1400"/>
              </a:spcBef>
              <a:defRPr sz="1000" b="1">
                <a:solidFill>
                  <a:srgbClr val="9CA3AF"/>
                </a:solidFill>
                <a:latin typeface="Segoe UI"/>
              </a:defRPr>
            </a:pPr>
            <a:r>
              <a:t>IMPACTO DIRETO</a:t>
            </a:r>
          </a:p>
          <a:p>
            <a:pPr>
              <a:spcBef>
                <a:spcPts val="6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Perda de timing = perda de venda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OPORTUNIDADE IDENTIFICADA</a:t>
            </a:r>
          </a:p>
          <a:p>
            <a:pPr>
              <a:spcBef>
                <a:spcPts val="1000"/>
              </a:spcBef>
              <a:defRPr sz="1100" b="1">
                <a:solidFill>
                  <a:srgbClr val="FFC20E"/>
                </a:solidFill>
                <a:latin typeface="Segoe UI"/>
              </a:defRPr>
            </a:pPr>
            <a:r>
              <a:t>FPS — Ferramentas de Penetração de Solo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Desgaste a cada 200h · 4 a 6 compras/ano por máquina</a:t>
            </a:r>
          </a:p>
          <a:p>
            <a:pPr>
              <a:spcBef>
                <a:spcPts val="1200"/>
              </a:spcBef>
              <a:defRPr sz="1100" b="1">
                <a:solidFill>
                  <a:srgbClr val="FFC20E"/>
                </a:solidFill>
                <a:latin typeface="Segoe UI"/>
              </a:defRPr>
            </a:pPr>
            <a:r>
              <a:t>Material Rodante — Tratores de Esteira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Desgaste a cada 1.500h · ~1 vez a cada 18 meses</a:t>
            </a:r>
          </a:p>
          <a:p>
            <a:pPr>
              <a:spcBef>
                <a:spcPts val="1200"/>
              </a:spcBef>
              <a:defRPr sz="1100" b="1">
                <a:solidFill>
                  <a:srgbClr val="FFC20E"/>
                </a:solidFill>
                <a:latin typeface="Segoe UI"/>
              </a:defRPr>
            </a:pPr>
            <a:r>
              <a:t>Material Rodante — Escavadeiras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Desgaste a cada 3.000h · ~1 vez a cada 3 anos</a:t>
            </a:r>
          </a:p>
          <a:p>
            <a:pPr>
              <a:spcBef>
                <a:spcPts val="14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r>
              <a:t>Padrão previsível = oportunidade estruturada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[INSIGHT] Cada hora sem contato é uma janela aberta para a concorrência. O desgaste é previsível — o processo comercial também pode 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MOTOR DE LEADS // VISÃO GERAL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MOTOR AUTOMATIZADO DE GERAÇÃO DE LEADS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20116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MONITORAMENTO</a:t>
            </a:r>
            <a:br/>
            <a:r>
              <a:t>DIÁRIO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54680"/>
            <a:ext cx="17922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t>Horímetros de toda a frota lidos e processados todo 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8" y="1417320"/>
            <a:ext cx="20116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4231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ALERTA</a:t>
            </a:r>
            <a:br/>
            <a:r>
              <a:t>SEMANAL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3154680"/>
            <a:ext cx="17922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t>Toda segunda-feira os leads do ciclo são publicados na planilha OneDrive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5776" y="1417320"/>
            <a:ext cx="20116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4231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CONTATO</a:t>
            </a:r>
            <a:br/>
            <a:r>
              <a:t>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154680"/>
            <a:ext cx="17922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t>Consultor/CSA registra status: Venda, Venda Perdida ou Sem Contato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624" y="1417320"/>
            <a:ext cx="20116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4231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DAILY</a:t>
            </a:r>
            <a:br/>
            <a: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3154680"/>
            <a:ext cx="17922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t>Gerentes recebem diariamente os 5 KPIs da campanha por e-mail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91472" y="1417320"/>
            <a:ext cx="20116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1554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0E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24231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AUDITORIA</a:t>
            </a:r>
            <a:br/>
            <a:r>
              <a:t>PROTHEUS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154680"/>
            <a:ext cx="17922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CA3AF"/>
                </a:solidFill>
                <a:latin typeface="Segoe UI"/>
              </a:defRPr>
            </a:pPr>
            <a:r>
              <a:t>Toda 'Venda' declarada é cruzada com proposta real no ERP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[RESULTADO] Processo reativo → processo previsível e auditável. Nenhuma máquina da base ativa some do radar comercial.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RÉGUA DE ALERTAS // HORÍMETROS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QUANDO O SISTEMA DISPARA O ALERTA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6583680" cy="27432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508760"/>
          <a:ext cx="6400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Tipo de Peça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Equipamento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Gatilho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FPS (dentes, lâminas, pontas)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Toda a frota ativa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A cada +200h de operação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Material Rodante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Tratores de Esteira</a:t>
                      </a:r>
                    </a:p>
                    <a:p>
                      <a:r>
                        <a:t>(700J, 750J, 850J, 1050K)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A cada +1.500h de operação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Material Rodante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Escavadeiras</a:t>
                      </a:r>
                    </a:p>
                    <a:p>
                      <a:r>
                        <a:t>(130G, 160G, 200G, 210G, 350G…)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A cada +3.000h de operação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498079" y="1371600"/>
            <a:ext cx="4297680" cy="420624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0876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CICLO DE VIDA DO LEAD</a:t>
            </a:r>
          </a:p>
          <a:p>
            <a:pPr>
              <a:spcBef>
                <a:spcPts val="10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Máquina atinge o limiar de horas</a:t>
            </a:r>
          </a:p>
          <a:p>
            <a:pPr>
              <a:spcBef>
                <a:spcPts val="400"/>
              </a:spcBef>
              <a:defRPr sz="950" b="1">
                <a:solidFill>
                  <a:srgbClr val="FFC20E"/>
                </a:solidFill>
                <a:latin typeface="Segoe UI"/>
              </a:defRPr>
            </a:pPr>
            <a:r>
              <a:t>↓  Sistema gera o alerta na planilha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↓  Consultor faz o contato</a:t>
            </a:r>
          </a:p>
          <a:p>
            <a:pPr>
              <a:spcBef>
                <a:spcPts val="1000"/>
              </a:spcBef>
              <a:defRPr sz="1000" b="1">
                <a:solidFill>
                  <a:srgbClr val="22C55E"/>
                </a:solidFill>
                <a:latin typeface="Segoe UI"/>
              </a:defRPr>
            </a:pPr>
            <a:r>
              <a:t>VENDA ou VENDA PERDIDA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→ Marco zero atualizado</a:t>
            </a:r>
            <a:br/>
            <a:r>
              <a:t>→ Novo ciclo inicia</a:t>
            </a:r>
          </a:p>
          <a:p>
            <a:pPr>
              <a:spcBef>
                <a:spcPts val="1000"/>
              </a:spcBef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SEM CONTATO / EM BRANCO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→ Lead permanece na fila</a:t>
            </a:r>
            <a:br/>
            <a:r>
              <a:t>→ Aging cresce no Daily 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6583680" cy="13258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6217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CA3AF"/>
                </a:solidFill>
                <a:latin typeface="Segoe UI"/>
              </a:defRPr>
            </a:pPr>
            <a:r>
              <a:t>POR QUE LIMIARES DIFERENTES PARA RODANTE?</a:t>
            </a:r>
          </a:p>
          <a:p>
            <a:pPr>
              <a:spcBef>
                <a:spcPts val="4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Tratores de esteira se locomovem continuamente — esteiras em atrito constante com o solo. Escavadeiras trabalham paradas e rodam as esteiras apenas em transferências. Por isso o desgaste do trator é ~2× mais rápido.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[REGRA] Após Venda ou Venda Perdida, o horímetro é zerado e o ciclo reinicia. Leads Sem Contato continuam acumulando horas.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RÉGUA DE ALERTAS // CARGA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PRIMEIRA CARGA: PARTINDO DO ZERO SEM RUÍDO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30352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O DESAFIO DA CARGA INICIAL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Na primeira vez que o sistema processa um chassis, não há histórico de quando a última peça foi trocada.</a:t>
            </a:r>
          </a:p>
          <a:p>
            <a:pPr>
              <a:spcBef>
                <a:spcPts val="12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Regra aplicada: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 horímetro atual é registrado como MARCO ZERO.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O primeiro alerta só é gerado após acumular as horas da régua a partir desse momento.</a:t>
            </a:r>
          </a:p>
          <a:p>
            <a:pPr>
              <a:spcBef>
                <a:spcPts val="12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t>Por quê?</a:t>
            </a:r>
          </a:p>
          <a:p>
            <a:pPr>
              <a:spcBef>
                <a:spcPts val="4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Evita gerar centenas de alertas simultâneos ao ativar a campanha — o que sobrecarregaria a equipe no dia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EXEMPLO PRÁTICO — ESCAVADEIRA 200G</a:t>
            </a:r>
          </a:p>
          <a:p>
            <a:pPr>
              <a:spcBef>
                <a:spcPts val="10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Horímetro no momento da ativação:</a:t>
            </a:r>
          </a:p>
          <a:p>
            <a:pPr>
              <a:spcBef>
                <a:spcPts val="400"/>
              </a:spcBef>
              <a:defRPr sz="2200" b="1">
                <a:solidFill>
                  <a:srgbClr val="FFC20E"/>
                </a:solidFill>
                <a:latin typeface="Segoe UI"/>
              </a:defRPr>
            </a:pPr>
            <a:r>
              <a:t>4.200 horas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→ Marco zero registrado: 4.200h</a:t>
            </a:r>
          </a:p>
          <a:p>
            <a:pPr>
              <a:spcBef>
                <a:spcPts val="10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Próximo alerta de FPS:</a:t>
            </a:r>
          </a:p>
          <a:p>
            <a:pPr>
              <a:spcBef>
                <a:spcPts val="200"/>
              </a:spcBef>
              <a:defRPr sz="1400" b="1">
                <a:solidFill>
                  <a:srgbClr val="22C55E"/>
                </a:solidFill>
                <a:latin typeface="Segoe UI"/>
              </a:defRPr>
            </a:pPr>
            <a:r>
              <a:t>4.400h  (+200h)</a:t>
            </a:r>
          </a:p>
          <a:p>
            <a:pPr>
              <a:spcBef>
                <a:spcPts val="8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Próximo alerta de Rodante:</a:t>
            </a:r>
          </a:p>
          <a:p>
            <a:pPr>
              <a:spcBef>
                <a:spcPts val="200"/>
              </a:spcBef>
              <a:defRPr sz="1400" b="1">
                <a:solidFill>
                  <a:srgbClr val="F59E0B"/>
                </a:solidFill>
                <a:latin typeface="Segoe UI"/>
              </a:defRPr>
            </a:pPr>
            <a:r>
              <a:t>7.200h  (+3.000h)</a:t>
            </a:r>
          </a:p>
          <a:p>
            <a:pPr>
              <a:spcBef>
                <a:spcPts val="1000"/>
              </a:spcBef>
              <a:defRPr sz="950" b="0">
                <a:solidFill>
                  <a:srgbClr val="9CA3AF"/>
                </a:solidFill>
                <a:latin typeface="Segoe UI"/>
              </a:defRPr>
            </a:pPr>
            <a:r>
              <a:t>A campanha começa de forma ordenada,</a:t>
            </a:r>
            <a:br/>
            <a:r>
              <a:t>sem ruído desnecessário.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[GARANTIA] A ativação da campanha é suave. Os alertas chegam de forma distribuída ao longo das semanas — nunca todos de uma vez.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INDICADORES // DESEMPENHO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INDICADORES DE DESEMPENHO (KPIs)</a:t>
            </a:r>
          </a:p>
        </p:txBody>
      </p:sp>
      <p:pic>
        <p:nvPicPr>
          <p:cNvPr id="9" name="Picture 8" descr="_kpi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5669280" cy="3200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0" y="1371600"/>
            <a:ext cx="493776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OS 4 INDICADORES PRIMÁRIOS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t>◀  ADESÃO COMERCIAL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% dos leads com feedback registrado pela equipe.</a:t>
            </a:r>
            <a:br/>
            <a:r>
              <a:t>Mede velocidade e engajamento no contato.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t>◀  CONVERSÃO ACUMULADA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% de leads tratados que resultaram em venda.</a:t>
            </a:r>
            <a:br/>
            <a:r>
              <a:t>Mede eficiência do discurso comercial.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t>◀  ADERÊNCIA DE PROPOSTAS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% de 'Vendas' com proposta real no Protheus.</a:t>
            </a:r>
            <a:br/>
            <a:r>
              <a:t>A Ponte da Verdade — elimina o autodeclaratório.</a:t>
            </a:r>
          </a:p>
          <a:p>
            <a:pPr>
              <a:spcBef>
                <a:spcPts val="10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r>
              <a:t>◀  FATURAMENTO REALIZADO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Valor em R$ das propostas validadas no ERP.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[GOVERNANÇA] Os KPIs são enviados diariamente por e-mail para os 8 destinatários do Daily Report — sem necessidade de acessar planilha.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INDICADORES //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METODOLOGIA E AGING COMERCIAL</a:t>
            </a:r>
          </a:p>
        </p:txBody>
      </p:sp>
      <p:pic>
        <p:nvPicPr>
          <p:cNvPr id="9" name="Picture 8" descr="_kpi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5669280" cy="3200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0" y="1371600"/>
            <a:ext cx="493776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087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AGING E PIPELINE FINANCEIRO</a:t>
            </a:r>
          </a:p>
          <a:p>
            <a:pPr>
              <a:spcBef>
                <a:spcPts val="1000"/>
              </a:spcBef>
              <a:defRPr sz="1050" b="1">
                <a:solidFill>
                  <a:srgbClr val="FFC20E"/>
                </a:solidFill>
                <a:latin typeface="Segoe UI"/>
              </a:defRPr>
            </a:pPr>
            <a:r>
              <a:t>◀  AGING DO LEAD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Dias médios sem primeiro contato após o alerta.</a:t>
            </a:r>
            <a:br/>
            <a:r>
              <a:t>Alerta para perda de timing preventivo.</a:t>
            </a:r>
          </a:p>
          <a:p>
            <a:pPr>
              <a:spcBef>
                <a:spcPts val="1000"/>
              </a:spcBef>
              <a:defRPr sz="1050" b="1">
                <a:solidFill>
                  <a:srgbClr val="22C55E"/>
                </a:solidFill>
                <a:latin typeface="Segoe UI"/>
              </a:defRPr>
            </a:pPr>
            <a:r>
              <a:t>◀  PIPELINE FINANCEIRO</a:t>
            </a:r>
          </a:p>
          <a:p>
            <a:pPr>
              <a:spcBef>
                <a:spcPts val="2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Soma em R$ das propostas abertas no Protheus</a:t>
            </a:r>
            <a:br/>
            <a:r>
              <a:t>vinculadas à campanha. Visibilidade financeira</a:t>
            </a:r>
            <a:br/>
            <a:r>
              <a:t>do que está em negociação.</a:t>
            </a:r>
          </a:p>
          <a:p>
            <a:pPr>
              <a:spcBef>
                <a:spcPts val="1400"/>
              </a:spcBef>
              <a:defRPr sz="1000" b="1">
                <a:solidFill>
                  <a:srgbClr val="9CA3AF"/>
                </a:solidFill>
                <a:latin typeface="Segoe UI"/>
              </a:defRPr>
            </a:pPr>
            <a:r>
              <a:t>LEITURA DO PAINEL</a:t>
            </a:r>
          </a:p>
          <a:p>
            <a:pPr>
              <a:spcBef>
                <a:spcPts val="400"/>
              </a:spcBef>
              <a:defRPr sz="950" b="1">
                <a:solidFill>
                  <a:srgbClr val="EF4444"/>
                </a:solidFill>
                <a:latin typeface="Segoe UI"/>
              </a:defRPr>
            </a:pPr>
            <a:r>
              <a:t>Aging alto = timing preventivo sendo perdido</a:t>
            </a:r>
          </a:p>
          <a:p>
            <a:pPr>
              <a:spcBef>
                <a:spcPts val="4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Aderência baixa = resultado autodeclaratório</a:t>
            </a:r>
          </a:p>
          <a:p>
            <a:pPr>
              <a:spcBef>
                <a:spcPts val="400"/>
              </a:spcBef>
              <a:defRPr sz="950" b="1">
                <a:solidFill>
                  <a:srgbClr val="22C55E"/>
                </a:solidFill>
                <a:latin typeface="Segoe UI"/>
              </a:defRPr>
            </a:pPr>
            <a:r>
              <a:t>Conversão crescente = discurso eficaz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[AUTONOMIA] Gerentes e coordenadores recebem os mesmos KPIs diariamente — mesma visibilidade, comparação justa entre regiões.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GOVERNANÇA // AUDITORIA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 PONTE DA VERDADE: PLANILHA × PROTHEUS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30352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COMO A AUDITORIA FUNCIONA</a:t>
            </a:r>
          </a:p>
          <a:p>
            <a:pPr>
              <a:spcBef>
                <a:spcPts val="10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1. Consultor registra 'Venda' na planilha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2. Sistema extrai leads marcados como Venda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3. Cruza com propostas reais do ERP Protheus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Segoe UI"/>
              </a:defRPr>
            </a:pPr>
            <a:r>
              <a:t>4. Calcula Aderência de Propostas (KPI)</a:t>
            </a:r>
          </a:p>
          <a:p>
            <a:pPr>
              <a:spcBef>
                <a:spcPts val="200"/>
              </a:spcBef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000" b="1">
                <a:solidFill>
                  <a:srgbClr val="F59E0B"/>
                </a:solidFill>
                <a:latin typeface="Segoe UI"/>
              </a:defRPr>
            </a:pPr>
            <a:r>
              <a:t>Venda SEM proposta no Protheus:</a:t>
            </a:r>
          </a:p>
          <a:p>
            <a:pPr>
              <a:spcBef>
                <a:spcPts val="2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→ Aparece imediatamente no KPI de Aderência</a:t>
            </a:r>
          </a:p>
          <a:p>
            <a:pPr>
              <a:spcBef>
                <a:spcPts val="2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→ Fica destacado no Daily Report para o gerente</a:t>
            </a:r>
          </a:p>
          <a:p>
            <a:pPr>
              <a:spcBef>
                <a:spcPts val="800"/>
              </a:spcBef>
              <a:defRPr sz="1000" b="1">
                <a:solidFill>
                  <a:srgbClr val="22C55E"/>
                </a:solidFill>
                <a:latin typeface="Segoe UI"/>
              </a:defRPr>
            </a:pPr>
            <a:r>
              <a:t>Venda COM proposta no Protheus:</a:t>
            </a:r>
          </a:p>
          <a:p>
            <a:pPr>
              <a:spcBef>
                <a:spcPts val="2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→ Computada no Pipeline Financeiro em R$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12064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CA3AF"/>
                </a:solidFill>
                <a:latin typeface="Segoe UI"/>
              </a:defRPr>
            </a:pPr>
            <a:r>
              <a:t>PROTEÇÃO DOS DADOS NA PLANILHA</a:t>
            </a:r>
          </a:p>
          <a:p>
            <a:pPr>
              <a:spcBef>
                <a:spcPts val="10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t>Colunas de origem BLOQUEADAS: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• Chassi, Cliente, CNPJ, Modelo</a:t>
            </a:r>
            <a:br/>
            <a:r>
              <a:t>• Motivo do alerta, Horímetro</a:t>
            </a:r>
          </a:p>
          <a:p>
            <a:pPr>
              <a:spcBef>
                <a:spcPts val="10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t>Consultores só editam:</a:t>
            </a:r>
          </a:p>
          <a:p>
            <a:pPr>
              <a:spcBef>
                <a:spcPts val="400"/>
              </a:spcBef>
              <a:defRPr sz="950" b="0">
                <a:solidFill>
                  <a:srgbClr val="FFFFFF"/>
                </a:solidFill>
                <a:latin typeface="Segoe UI"/>
              </a:defRPr>
            </a:pPr>
            <a:r>
              <a:t>• Status (Venda / Venda Perdida / Sem Contato)</a:t>
            </a:r>
            <a:br/>
            <a:r>
              <a:t>• Campo de observações livres</a:t>
            </a:r>
          </a:p>
          <a:p>
            <a:pPr>
              <a:spcBef>
                <a:spcPts val="1000"/>
              </a:spcBef>
              <a:defRPr sz="1000" b="1">
                <a:solidFill>
                  <a:srgbClr val="FFC20E"/>
                </a:solidFill>
                <a:latin typeface="Segoe UI"/>
              </a:defRPr>
            </a:pPr>
            <a:r>
              <a:t>Snapshot diário:</a:t>
            </a:r>
          </a:p>
          <a:p>
            <a:pPr>
              <a:spcBef>
                <a:spcPts val="400"/>
              </a:spcBef>
              <a:defRPr sz="900" b="0">
                <a:solidFill>
                  <a:srgbClr val="FFFFFF"/>
                </a:solidFill>
                <a:latin typeface="Segoe UI"/>
              </a:defRPr>
            </a:pPr>
            <a:r>
              <a:t>Antes de cada atualização semanal, o sistema</a:t>
            </a:r>
            <a:br/>
            <a:r>
              <a:t>salva o estado completo da planilha para</a:t>
            </a:r>
            <a:br/>
            <a:r>
              <a:t>rastreabilidade histórica.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[FIM DO AUTODECLARATÓRIO] Qualquer resultado reportado sem evidência no ERP é detectado automaticamente — tornando os números confiáveis.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PAPÉIS E RESPONSABILIDADES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QUEM FAZ O QUÊ NA CAMPANHA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10698480" cy="429768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5087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Papel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Ação na Campanha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Gerente de Peças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Roberto Reis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Lidera reunião semanal de revisão de metas (terças); avalia KPIs consolidados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Gerentes / Coordenadores Regionais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Pedro Sarnaglia · Leandro Silva</a:t>
                      </a:r>
                    </a:p>
                    <a:p>
                      <a:r>
                        <a:t>Marcelo Costa · Luciana Borges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Acompanham o Daily Report diário; cobram aging elevado dos consultores; gerenciam equipe regional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CSA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Murilo Nunes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Realiza contato ativo com clientes da carteira; registra status na planilha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Consultores de Vendas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 definir (mapeamento Murilo)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Realizam o contato ativo com os clientes; registram Venda / Venda Perdida / Sem Contato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C20E"/>
                          </a:solidFill>
                          <a:latin typeface="Segoe UI"/>
                        </a:defRPr>
                      </a:pPr>
                      <a:r>
                        <a:t>Engenharia de Dados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Victor Bernardi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Mantém o motor de cálculo, atualiza a planilha semanalmente e dispara o Daily Report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[PENDÊNCIA] Segmentação de clientes por CSA/consultor em definição. Assim que Murilo enviar o mapeamento, a planilha será configurada com Responsável automático.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0"/>
            <a:ext cx="137160" cy="6858000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ova_logo_cdcd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4864"/>
            <a:ext cx="914400" cy="256032"/>
          </a:xfrm>
          <a:prstGeom prst="rect">
            <a:avLst/>
          </a:prstGeom>
        </p:spPr>
      </p:pic>
      <p:pic>
        <p:nvPicPr>
          <p:cNvPr id="6" name="Picture 5" descr="JD_logo_no_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4864"/>
            <a:ext cx="53035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20E"/>
                </a:solidFill>
                <a:latin typeface="Segoe UI"/>
              </a:defRPr>
            </a:pPr>
            <a:r>
              <a:t>ROADMAP // IMPLANTAÇÃO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PRIMEIROS MARCOS DA CAMPANHA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20E"/>
                </a:solidFill>
                <a:latin typeface="Segoe UI"/>
              </a:defRPr>
            </a:pPr>
            <a:r>
              <a:t>SEMANA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194560"/>
            <a:ext cx="1554480" cy="3657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Primeiro ciclo semanal de alertas publicado na planilha OneDrive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600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20E"/>
                </a:solidFill>
                <a:latin typeface="Segoe UI"/>
              </a:defRPr>
            </a:pPr>
            <a:r>
              <a:t>SEMANA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94560"/>
            <a:ext cx="1554480" cy="3657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Primeiro Daily Report enviado para todos os 8 destinatários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600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MÊS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194560"/>
            <a:ext cx="1554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Primeira auditoria de Aderência de Propostas: planilha × Protheus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41732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6002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  <a:latin typeface="Segoe UI"/>
              </a:defRPr>
            </a:pPr>
            <a:r>
              <a:t>MÊS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194560"/>
            <a:ext cx="1554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331720"/>
            <a:ext cx="2194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Segoe UI"/>
              </a:defRPr>
            </a:pPr>
            <a:r>
              <a:t>Primeiro benchmark de conversão por região disponível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1F2937"/>
          </a:solidFill>
          <a:ln w="19050">
            <a:solidFill>
              <a:srgbClr val="FFC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3327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C20E"/>
                </a:solidFill>
                <a:latin typeface="Segoe UI"/>
              </a:defRPr>
            </a:pPr>
            <a:r>
              <a:t>[OBJETIVO] Da semana 1 ao mês 2: do primeiro alerta ao primeiro benchmark de resultado — campanha rodando e auditável em 60 dias.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