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20E"/>
    <a:srgbClr val="FFFFFF"/>
    <a:srgbClr val="1F2937"/>
    <a:srgbClr val="22C55E"/>
    <a:srgbClr val="9CA3AF"/>
    <a:srgbClr val="000000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F5A94-6174-4F65-81A3-C2560691F318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E6447-02F8-450F-B7E0-C7BD9CEA6F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25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E6447-02F8-450F-B7E0-C7BD9CEA6F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19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E6447-02F8-450F-B7E0-C7BD9CEA6FF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113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E6447-02F8-450F-B7E0-C7BD9CEA6FF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109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over_motor_lubricant_APROVADA.png">
            <a:extLst>
              <a:ext uri="{FF2B5EF4-FFF2-40B4-BE49-F238E27FC236}">
                <a16:creationId xmlns:a16="http://schemas.microsoft.com/office/drawing/2014/main" id="{45E7004C-F63A-B968-F5B3-4E074DE61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671" y="1473794"/>
            <a:ext cx="6786154" cy="5278120"/>
          </a:xfrm>
          <a:prstGeom prst="rect">
            <a:avLst/>
          </a:prstGeom>
          <a:solidFill>
            <a:srgbClr val="111111"/>
          </a:solidFill>
        </p:spPr>
      </p:pic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ova_logo_cdcd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492" y="3975200"/>
            <a:ext cx="1645920" cy="457200"/>
          </a:xfrm>
          <a:prstGeom prst="rect">
            <a:avLst/>
          </a:prstGeom>
        </p:spPr>
      </p:pic>
      <p:pic>
        <p:nvPicPr>
          <p:cNvPr id="4" name="Picture 3" descr="JD_logo_no_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798" y="3888624"/>
            <a:ext cx="91440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8807" y="2011680"/>
            <a:ext cx="7963911" cy="11336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LEADS PREVENTIVOS</a:t>
            </a:r>
            <a:r>
              <a:rPr lang="pt-BR" dirty="0"/>
              <a:t> – CSC -</a:t>
            </a:r>
            <a:r>
              <a:rPr dirty="0"/>
              <a:t> PEÇAS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FFC20E"/>
                </a:solidFill>
                <a:latin typeface="Segoe UI"/>
              </a:defRPr>
            </a:pPr>
            <a:r>
              <a:rPr dirty="0"/>
              <a:t>FPS &amp; Material </a:t>
            </a:r>
            <a:r>
              <a:rPr dirty="0" err="1"/>
              <a:t>Rodante</a:t>
            </a:r>
            <a:r>
              <a:rPr dirty="0"/>
              <a:t> — Inova </a:t>
            </a:r>
            <a:r>
              <a:rPr dirty="0" err="1"/>
              <a:t>Máquinas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60708" y="3282113"/>
            <a:ext cx="5760720" cy="4572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22469" y="3370780"/>
            <a:ext cx="663720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CA3AF"/>
                </a:solidFill>
                <a:latin typeface="Segoe UI"/>
              </a:defRPr>
            </a:pPr>
            <a:r>
              <a:rPr dirty="0"/>
              <a:t>Motor de </a:t>
            </a:r>
            <a:r>
              <a:rPr dirty="0" err="1"/>
              <a:t>geração</a:t>
            </a:r>
            <a:r>
              <a:rPr dirty="0"/>
              <a:t> de leads </a:t>
            </a:r>
            <a:r>
              <a:rPr lang="pt-BR" dirty="0"/>
              <a:t>CSC </a:t>
            </a:r>
            <a:r>
              <a:rPr dirty="0"/>
              <a:t>com base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horímetros</a:t>
            </a:r>
            <a:r>
              <a:rPr dirty="0"/>
              <a:t> de </a:t>
            </a:r>
            <a:r>
              <a:rPr dirty="0" err="1"/>
              <a:t>máquinas</a:t>
            </a:r>
            <a:r>
              <a:rPr dirty="0"/>
              <a:t> </a:t>
            </a:r>
            <a:r>
              <a:rPr lang="pt-BR" dirty="0"/>
              <a:t>Pops-</a:t>
            </a:r>
            <a:r>
              <a:rPr dirty="0"/>
              <a:t>John Deere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120" y="27432"/>
            <a:ext cx="643999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DIAGNÓSTICO COMERCIAL // PEÇAS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 CUSTO DO PROCESSO REATIVO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59"/>
            <a:ext cx="4754880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1600" dirty="0"/>
              <a:t>SITUAÇÃO ATUAL</a:t>
            </a:r>
          </a:p>
          <a:p>
            <a:pPr>
              <a:spcBef>
                <a:spcPts val="800"/>
              </a:spcBef>
              <a:defRPr sz="1050" b="0">
                <a:solidFill>
                  <a:srgbClr val="FFFFFF"/>
                </a:solidFill>
                <a:latin typeface="Segoe UI"/>
              </a:defRPr>
            </a:pPr>
            <a:r>
              <a:rPr sz="1400" dirty="0"/>
              <a:t>O </a:t>
            </a:r>
            <a:r>
              <a:rPr sz="1400" dirty="0" err="1"/>
              <a:t>cliente</a:t>
            </a:r>
            <a:r>
              <a:rPr sz="1400" dirty="0"/>
              <a:t> </a:t>
            </a:r>
            <a:r>
              <a:rPr sz="1400" dirty="0" err="1"/>
              <a:t>liga</a:t>
            </a:r>
            <a:r>
              <a:rPr sz="1400" dirty="0"/>
              <a:t> </a:t>
            </a:r>
            <a:r>
              <a:rPr sz="1400" dirty="0" err="1"/>
              <a:t>quando</a:t>
            </a:r>
            <a:r>
              <a:rPr sz="1400" dirty="0"/>
              <a:t> a </a:t>
            </a:r>
            <a:r>
              <a:rPr sz="1400" dirty="0" err="1"/>
              <a:t>peça</a:t>
            </a:r>
            <a:r>
              <a:rPr sz="1400" dirty="0"/>
              <a:t> </a:t>
            </a:r>
            <a:r>
              <a:rPr sz="1400" dirty="0" err="1"/>
              <a:t>quebra</a:t>
            </a:r>
            <a:r>
              <a:rPr lang="pt-BR" sz="1400" dirty="0"/>
              <a:t>, </a:t>
            </a:r>
            <a:r>
              <a:rPr sz="1400" dirty="0" err="1"/>
              <a:t>ou</a:t>
            </a:r>
            <a:r>
              <a:rPr sz="1400" dirty="0"/>
              <a:t>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liga</a:t>
            </a:r>
            <a:r>
              <a:rPr sz="1400" dirty="0"/>
              <a:t> e </a:t>
            </a:r>
            <a:r>
              <a:rPr sz="1400" dirty="0" err="1"/>
              <a:t>vai</a:t>
            </a:r>
            <a:r>
              <a:rPr sz="1400" dirty="0"/>
              <a:t> </a:t>
            </a:r>
            <a:r>
              <a:rPr lang="pt-BR" sz="1400" dirty="0"/>
              <a:t>direto no</a:t>
            </a:r>
            <a:r>
              <a:rPr sz="1400" dirty="0"/>
              <a:t> </a:t>
            </a:r>
            <a:r>
              <a:rPr sz="1400" dirty="0" err="1"/>
              <a:t>concorrente</a:t>
            </a:r>
            <a:r>
              <a:rPr sz="1400" dirty="0"/>
              <a:t>.</a:t>
            </a:r>
          </a:p>
          <a:p>
            <a:pPr>
              <a:spcBef>
                <a:spcPts val="10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Nenhum</a:t>
            </a:r>
            <a:r>
              <a:rPr sz="1400" dirty="0"/>
              <a:t> consultor </a:t>
            </a:r>
            <a:r>
              <a:rPr sz="1400" dirty="0" err="1"/>
              <a:t>recebe</a:t>
            </a:r>
            <a:r>
              <a:rPr sz="1400" dirty="0"/>
              <a:t> </a:t>
            </a:r>
            <a:r>
              <a:rPr sz="1400" dirty="0" err="1"/>
              <a:t>alerta</a:t>
            </a:r>
            <a:r>
              <a:rPr sz="1400" dirty="0"/>
              <a:t> </a:t>
            </a:r>
            <a:r>
              <a:rPr sz="1400" dirty="0" err="1"/>
              <a:t>automático</a:t>
            </a:r>
            <a:r>
              <a:rPr sz="1400" dirty="0"/>
              <a:t> de </a:t>
            </a:r>
            <a:r>
              <a:rPr sz="1400" dirty="0" err="1"/>
              <a:t>desgaste</a:t>
            </a:r>
            <a:endParaRPr sz="1400" dirty="0"/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400" dirty="0"/>
              <a:t>• O </a:t>
            </a:r>
            <a:r>
              <a:rPr sz="1400" dirty="0" err="1"/>
              <a:t>contato</a:t>
            </a:r>
            <a:r>
              <a:rPr sz="1400" dirty="0"/>
              <a:t> </a:t>
            </a:r>
            <a:r>
              <a:rPr sz="1400" dirty="0" err="1"/>
              <a:t>depende</a:t>
            </a:r>
            <a:r>
              <a:rPr sz="1400" dirty="0"/>
              <a:t> da </a:t>
            </a:r>
            <a:r>
              <a:rPr sz="1400" dirty="0" err="1"/>
              <a:t>memória</a:t>
            </a:r>
            <a:r>
              <a:rPr sz="1400" dirty="0"/>
              <a:t> do </a:t>
            </a:r>
            <a:r>
              <a:rPr sz="1400" dirty="0" err="1"/>
              <a:t>vendedor</a:t>
            </a:r>
            <a:r>
              <a:rPr sz="1400" dirty="0"/>
              <a:t> </a:t>
            </a:r>
            <a:r>
              <a:rPr sz="1400" dirty="0" err="1"/>
              <a:t>ou</a:t>
            </a:r>
            <a:r>
              <a:rPr sz="1400" dirty="0"/>
              <a:t> do </a:t>
            </a:r>
            <a:r>
              <a:rPr sz="1400" dirty="0" err="1"/>
              <a:t>cliente</a:t>
            </a:r>
            <a:endParaRPr sz="1400" dirty="0"/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Peças</a:t>
            </a:r>
            <a:r>
              <a:rPr sz="1400" dirty="0"/>
              <a:t> </a:t>
            </a:r>
            <a:r>
              <a:rPr sz="1400" dirty="0" err="1"/>
              <a:t>compradas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emergência</a:t>
            </a:r>
            <a:r>
              <a:rPr sz="1400" dirty="0"/>
              <a:t> </a:t>
            </a:r>
            <a:r>
              <a:rPr sz="1400" dirty="0" err="1"/>
              <a:t>vão</a:t>
            </a:r>
            <a:r>
              <a:rPr sz="1400" dirty="0"/>
              <a:t> para o </a:t>
            </a:r>
            <a:r>
              <a:rPr sz="1400" dirty="0" err="1"/>
              <a:t>fornecedor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rápido</a:t>
            </a:r>
            <a:endParaRPr sz="1400" dirty="0"/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400" dirty="0"/>
              <a:t>•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há</a:t>
            </a:r>
            <a:r>
              <a:rPr sz="1400" dirty="0"/>
              <a:t> </a:t>
            </a:r>
            <a:r>
              <a:rPr sz="1400" dirty="0" err="1"/>
              <a:t>como</a:t>
            </a:r>
            <a:r>
              <a:rPr sz="1400" dirty="0"/>
              <a:t> </a:t>
            </a:r>
            <a:r>
              <a:rPr sz="1400" dirty="0" err="1"/>
              <a:t>auditar</a:t>
            </a:r>
            <a:r>
              <a:rPr sz="1400" dirty="0"/>
              <a:t> se o </a:t>
            </a:r>
            <a:r>
              <a:rPr sz="1400" dirty="0" err="1"/>
              <a:t>contato</a:t>
            </a:r>
            <a:r>
              <a:rPr sz="1400" dirty="0"/>
              <a:t> </a:t>
            </a:r>
            <a:r>
              <a:rPr sz="1400" dirty="0" err="1"/>
              <a:t>foi</a:t>
            </a:r>
            <a:r>
              <a:rPr sz="1400" dirty="0"/>
              <a:t> </a:t>
            </a:r>
            <a:r>
              <a:rPr sz="1400" dirty="0" err="1"/>
              <a:t>feito</a:t>
            </a:r>
            <a:r>
              <a:rPr sz="1400" dirty="0"/>
              <a:t> e </a:t>
            </a:r>
            <a:r>
              <a:rPr sz="1400" dirty="0" err="1"/>
              <a:t>gerou</a:t>
            </a:r>
            <a:r>
              <a:rPr sz="1400" dirty="0"/>
              <a:t> </a:t>
            </a:r>
            <a:r>
              <a:rPr sz="1400" dirty="0" err="1"/>
              <a:t>proposta</a:t>
            </a:r>
            <a:endParaRPr sz="1400" dirty="0"/>
          </a:p>
          <a:p>
            <a:pPr>
              <a:spcBef>
                <a:spcPts val="1400"/>
              </a:spcBef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1600" dirty="0"/>
              <a:t>IMPACTO DIRETO</a:t>
            </a:r>
          </a:p>
          <a:p>
            <a:pPr>
              <a:spcBef>
                <a:spcPts val="6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rPr sz="2200" dirty="0" err="1"/>
              <a:t>Perda</a:t>
            </a:r>
            <a:r>
              <a:rPr sz="2200" dirty="0"/>
              <a:t> de timing = </a:t>
            </a:r>
            <a:r>
              <a:rPr sz="2200" dirty="0" err="1"/>
              <a:t>perda</a:t>
            </a:r>
            <a:r>
              <a:rPr sz="2200" dirty="0"/>
              <a:t> de </a:t>
            </a:r>
            <a:r>
              <a:rPr sz="2200" dirty="0" err="1"/>
              <a:t>venda</a:t>
            </a:r>
            <a:endParaRPr sz="2200" dirty="0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1600" dirty="0"/>
              <a:t>OPORTUNIDADE IDENTIFICADA</a:t>
            </a:r>
          </a:p>
          <a:p>
            <a:pPr>
              <a:spcBef>
                <a:spcPts val="1000"/>
              </a:spcBef>
              <a:defRPr sz="1100" b="1">
                <a:solidFill>
                  <a:srgbClr val="FFC20E"/>
                </a:solidFill>
                <a:latin typeface="Segoe UI"/>
              </a:defRPr>
            </a:pPr>
            <a:r>
              <a:rPr sz="1400" dirty="0"/>
              <a:t>FPS — Ferramentas de </a:t>
            </a:r>
            <a:r>
              <a:rPr sz="1400" dirty="0" err="1"/>
              <a:t>Penetração</a:t>
            </a:r>
            <a:r>
              <a:rPr sz="1400" dirty="0"/>
              <a:t> de Solo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400" dirty="0" err="1"/>
              <a:t>Desgaste</a:t>
            </a:r>
            <a:r>
              <a:rPr sz="1400" dirty="0"/>
              <a:t> a </a:t>
            </a:r>
            <a:r>
              <a:rPr sz="1400" dirty="0" err="1"/>
              <a:t>cada</a:t>
            </a:r>
            <a:r>
              <a:rPr sz="1400" dirty="0"/>
              <a:t> 200h · 4 a 6 </a:t>
            </a:r>
            <a:r>
              <a:rPr sz="1400" dirty="0" err="1"/>
              <a:t>compras</a:t>
            </a:r>
            <a:r>
              <a:rPr sz="1400" dirty="0"/>
              <a:t>/</a:t>
            </a:r>
            <a:r>
              <a:rPr sz="1400" dirty="0" err="1"/>
              <a:t>ano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máquina</a:t>
            </a:r>
            <a:endParaRPr sz="1400" dirty="0"/>
          </a:p>
          <a:p>
            <a:pPr>
              <a:spcBef>
                <a:spcPts val="1200"/>
              </a:spcBef>
              <a:defRPr sz="1100" b="1">
                <a:solidFill>
                  <a:srgbClr val="FFC20E"/>
                </a:solidFill>
                <a:latin typeface="Segoe UI"/>
              </a:defRPr>
            </a:pPr>
            <a:r>
              <a:rPr sz="1400" dirty="0"/>
              <a:t>Material </a:t>
            </a:r>
            <a:r>
              <a:rPr sz="1400" dirty="0" err="1"/>
              <a:t>Rodante</a:t>
            </a:r>
            <a:r>
              <a:rPr sz="1400" dirty="0"/>
              <a:t> — </a:t>
            </a:r>
            <a:r>
              <a:rPr sz="1400" dirty="0" err="1"/>
              <a:t>Tratores</a:t>
            </a:r>
            <a:r>
              <a:rPr sz="1400" dirty="0"/>
              <a:t> de </a:t>
            </a:r>
            <a:r>
              <a:rPr sz="1400" dirty="0" err="1"/>
              <a:t>Esteira</a:t>
            </a:r>
            <a:endParaRPr sz="1400" dirty="0"/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400" dirty="0" err="1"/>
              <a:t>Desgaste</a:t>
            </a:r>
            <a:r>
              <a:rPr sz="1400" dirty="0"/>
              <a:t> a </a:t>
            </a:r>
            <a:r>
              <a:rPr sz="1400" dirty="0" err="1"/>
              <a:t>cada</a:t>
            </a:r>
            <a:r>
              <a:rPr sz="1400" dirty="0"/>
              <a:t> 1.500h · ~1 </a:t>
            </a:r>
            <a:r>
              <a:rPr sz="1400" dirty="0" err="1"/>
              <a:t>vez</a:t>
            </a:r>
            <a:r>
              <a:rPr sz="1400" dirty="0"/>
              <a:t> a </a:t>
            </a:r>
            <a:r>
              <a:rPr sz="1400" dirty="0" err="1"/>
              <a:t>cada</a:t>
            </a:r>
            <a:r>
              <a:rPr sz="1400" dirty="0"/>
              <a:t> 18 meses</a:t>
            </a:r>
          </a:p>
          <a:p>
            <a:pPr>
              <a:spcBef>
                <a:spcPts val="1200"/>
              </a:spcBef>
              <a:defRPr sz="1100" b="1">
                <a:solidFill>
                  <a:srgbClr val="FFC20E"/>
                </a:solidFill>
                <a:latin typeface="Segoe UI"/>
              </a:defRPr>
            </a:pPr>
            <a:r>
              <a:rPr sz="1400" dirty="0"/>
              <a:t>Material </a:t>
            </a:r>
            <a:r>
              <a:rPr sz="1400" dirty="0" err="1"/>
              <a:t>Rodante</a:t>
            </a:r>
            <a:r>
              <a:rPr sz="1400" dirty="0"/>
              <a:t> — </a:t>
            </a:r>
            <a:r>
              <a:rPr sz="1400" dirty="0" err="1"/>
              <a:t>Escavadeiras</a:t>
            </a:r>
            <a:endParaRPr sz="1400" dirty="0"/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400" dirty="0" err="1"/>
              <a:t>Desgaste</a:t>
            </a:r>
            <a:r>
              <a:rPr sz="1400" dirty="0"/>
              <a:t> a </a:t>
            </a:r>
            <a:r>
              <a:rPr sz="1400" dirty="0" err="1"/>
              <a:t>cada</a:t>
            </a:r>
            <a:r>
              <a:rPr sz="1400" dirty="0"/>
              <a:t> 3.000h · ~1 </a:t>
            </a:r>
            <a:r>
              <a:rPr sz="1400" dirty="0" err="1"/>
              <a:t>vez</a:t>
            </a:r>
            <a:r>
              <a:rPr sz="1400" dirty="0"/>
              <a:t> a </a:t>
            </a:r>
            <a:r>
              <a:rPr sz="1400" dirty="0" err="1"/>
              <a:t>cada</a:t>
            </a:r>
            <a:r>
              <a:rPr sz="1400" dirty="0"/>
              <a:t> 3 </a:t>
            </a:r>
            <a:r>
              <a:rPr sz="1400" dirty="0" err="1"/>
              <a:t>anos</a:t>
            </a:r>
            <a:endParaRPr lang="pt-BR" sz="1400" dirty="0"/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endParaRPr lang="pt-BR" sz="1400" dirty="0"/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endParaRPr lang="pt-BR" sz="1400" dirty="0"/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lang="pt-BR" sz="1600" b="1" dirty="0">
                <a:solidFill>
                  <a:srgbClr val="9CA3AF"/>
                </a:solidFill>
              </a:rPr>
              <a:t>IMPACTO DIRETO</a:t>
            </a:r>
            <a:endParaRPr lang="pt-BR" sz="1600" dirty="0"/>
          </a:p>
          <a:p>
            <a:pPr>
              <a:spcBef>
                <a:spcPts val="14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r>
              <a:rPr lang="pt-BR" sz="2200" dirty="0"/>
              <a:t>Padrão previsível = oportunidade estruturada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940000"/>
            <a:ext cx="10368000" cy="58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[INSIGHT] Cada hora </a:t>
            </a:r>
            <a:r>
              <a:rPr sz="1600" dirty="0" err="1"/>
              <a:t>sem</a:t>
            </a:r>
            <a:r>
              <a:rPr sz="1600" dirty="0"/>
              <a:t> </a:t>
            </a:r>
            <a:r>
              <a:rPr sz="1600" dirty="0" err="1"/>
              <a:t>contato</a:t>
            </a:r>
            <a:r>
              <a:rPr sz="1600" dirty="0"/>
              <a:t> é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janela</a:t>
            </a:r>
            <a:r>
              <a:rPr sz="1600" dirty="0"/>
              <a:t> </a:t>
            </a:r>
            <a:r>
              <a:rPr sz="1600" dirty="0" err="1"/>
              <a:t>aberta</a:t>
            </a:r>
            <a:r>
              <a:rPr sz="1600" dirty="0"/>
              <a:t> para a </a:t>
            </a:r>
            <a:r>
              <a:rPr sz="1600" dirty="0" err="1"/>
              <a:t>concorrência</a:t>
            </a:r>
            <a:r>
              <a:rPr sz="1600" dirty="0"/>
              <a:t>. O </a:t>
            </a:r>
            <a:r>
              <a:rPr sz="1600" dirty="0" err="1"/>
              <a:t>desgaste</a:t>
            </a:r>
            <a:r>
              <a:rPr sz="1600" dirty="0"/>
              <a:t> é </a:t>
            </a:r>
            <a:r>
              <a:rPr sz="1600" dirty="0" err="1"/>
              <a:t>previsível</a:t>
            </a:r>
            <a:r>
              <a:rPr sz="1600" dirty="0"/>
              <a:t> — o </a:t>
            </a:r>
            <a:r>
              <a:rPr sz="1600" dirty="0" err="1"/>
              <a:t>processo</a:t>
            </a:r>
            <a:r>
              <a:rPr sz="1600" dirty="0"/>
              <a:t> </a:t>
            </a:r>
            <a:r>
              <a:rPr sz="1600" dirty="0" err="1"/>
              <a:t>comercial</a:t>
            </a:r>
            <a:r>
              <a:rPr sz="1600" dirty="0"/>
              <a:t> </a:t>
            </a:r>
            <a:r>
              <a:rPr sz="1600" dirty="0" err="1"/>
              <a:t>também</a:t>
            </a:r>
            <a:r>
              <a:rPr sz="1600" dirty="0"/>
              <a:t> </a:t>
            </a:r>
            <a:r>
              <a:rPr sz="1600" dirty="0" err="1"/>
              <a:t>pode</a:t>
            </a:r>
            <a:r>
              <a:rPr sz="1600" dirty="0"/>
              <a:t> 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2">
            <a:extLst>
              <a:ext uri="{FF2B5EF4-FFF2-40B4-BE49-F238E27FC236}">
                <a16:creationId xmlns:a16="http://schemas.microsoft.com/office/drawing/2014/main" id="{18EB6585-F4CF-05B5-6085-F309FA68F5CA}"/>
              </a:ext>
            </a:extLst>
          </p:cNvPr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MOTOR DE LEADS // VISÃO 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74866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MOTOR DE GERAÇÃO DE LEADS</a:t>
            </a:r>
            <a:r>
              <a:rPr lang="pt-BR" dirty="0"/>
              <a:t> CSC - Pops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34255" y="1415484"/>
            <a:ext cx="2772000" cy="2098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1072" y="1441686"/>
            <a:ext cx="2488393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rPr dirty="0"/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44" y="2172097"/>
            <a:ext cx="27868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MONITORAMENTO</a:t>
            </a:r>
            <a:br>
              <a:rPr sz="1600" dirty="0"/>
            </a:br>
            <a:r>
              <a:rPr sz="1600" dirty="0"/>
              <a:t>DIÁRIO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40" y="2823957"/>
            <a:ext cx="27372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rPr sz="1200" dirty="0" err="1"/>
              <a:t>Horímetros</a:t>
            </a:r>
            <a:r>
              <a:rPr sz="1200" dirty="0"/>
              <a:t> de </a:t>
            </a:r>
            <a:r>
              <a:rPr sz="1200" dirty="0" err="1"/>
              <a:t>toda</a:t>
            </a:r>
            <a:r>
              <a:rPr sz="1200" dirty="0"/>
              <a:t> a </a:t>
            </a:r>
            <a:r>
              <a:rPr sz="1200" dirty="0" err="1"/>
              <a:t>frota</a:t>
            </a:r>
            <a:r>
              <a:rPr sz="1200" dirty="0"/>
              <a:t> lidos e </a:t>
            </a:r>
            <a:r>
              <a:rPr sz="1200" dirty="0" err="1"/>
              <a:t>processados</a:t>
            </a:r>
            <a:r>
              <a:rPr sz="1200" dirty="0"/>
              <a:t> </a:t>
            </a:r>
            <a:r>
              <a:rPr sz="1200" dirty="0" err="1"/>
              <a:t>todo</a:t>
            </a:r>
            <a:r>
              <a:rPr sz="1200" dirty="0"/>
              <a:t> </a:t>
            </a:r>
            <a:r>
              <a:rPr sz="1200" dirty="0" err="1"/>
              <a:t>dia</a:t>
            </a:r>
            <a:endParaRPr sz="1200" dirty="0"/>
          </a:p>
        </p:txBody>
      </p:sp>
      <p:sp>
        <p:nvSpPr>
          <p:cNvPr id="13" name="Rectangle 12"/>
          <p:cNvSpPr/>
          <p:nvPr/>
        </p:nvSpPr>
        <p:spPr>
          <a:xfrm>
            <a:off x="4643367" y="1404208"/>
            <a:ext cx="2772000" cy="2098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68495" y="1441686"/>
            <a:ext cx="2533091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rPr dirty="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7393" y="2160821"/>
            <a:ext cx="11608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ALERTA</a:t>
            </a:r>
            <a:br>
              <a:rPr sz="1600" dirty="0"/>
            </a:br>
            <a:r>
              <a:rPr sz="1600" dirty="0"/>
              <a:t>SEMANAL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167" y="2823957"/>
            <a:ext cx="27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rPr sz="1200" dirty="0"/>
              <a:t>Toda </a:t>
            </a:r>
            <a:r>
              <a:rPr sz="1200" dirty="0" err="1"/>
              <a:t>segunda-feira</a:t>
            </a:r>
            <a:r>
              <a:rPr sz="1200" dirty="0"/>
              <a:t> </a:t>
            </a:r>
            <a:r>
              <a:rPr sz="1200" dirty="0" err="1"/>
              <a:t>os</a:t>
            </a:r>
            <a:r>
              <a:rPr sz="1200" dirty="0"/>
              <a:t> leads do </a:t>
            </a:r>
            <a:r>
              <a:rPr sz="1200" dirty="0" err="1"/>
              <a:t>ciclo</a:t>
            </a:r>
            <a:r>
              <a:rPr sz="1200" dirty="0"/>
              <a:t> </a:t>
            </a:r>
            <a:r>
              <a:rPr sz="1200" dirty="0" err="1"/>
              <a:t>são</a:t>
            </a:r>
            <a:r>
              <a:rPr sz="1200" dirty="0"/>
              <a:t> </a:t>
            </a:r>
            <a:r>
              <a:rPr sz="1200" dirty="0" err="1"/>
              <a:t>publicados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planilha</a:t>
            </a:r>
            <a:r>
              <a:rPr sz="1200" dirty="0"/>
              <a:t> OneDrive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2142" y="1381941"/>
            <a:ext cx="2772000" cy="2098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1597" y="1441686"/>
            <a:ext cx="2533091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rPr dirty="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5050" y="2138954"/>
            <a:ext cx="11317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CONTATO</a:t>
            </a:r>
            <a:br>
              <a:rPr sz="1600" dirty="0"/>
            </a:br>
            <a:r>
              <a:rPr sz="1600" dirty="0"/>
              <a:t>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4942" y="2823957"/>
            <a:ext cx="27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rPr sz="1200" dirty="0"/>
              <a:t>Consultor/CSA </a:t>
            </a:r>
            <a:r>
              <a:rPr sz="1200" dirty="0" err="1"/>
              <a:t>registra</a:t>
            </a:r>
            <a:r>
              <a:rPr sz="1200" dirty="0"/>
              <a:t> status: Venda, Venda Perdida </a:t>
            </a:r>
            <a:r>
              <a:rPr sz="1200" dirty="0" err="1"/>
              <a:t>ou</a:t>
            </a:r>
            <a:r>
              <a:rPr sz="1200" dirty="0"/>
              <a:t> Sem Contato</a:t>
            </a: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8BB3B205-3710-0531-7874-22C6DB87E7AF}"/>
              </a:ext>
            </a:extLst>
          </p:cNvPr>
          <p:cNvSpPr/>
          <p:nvPr/>
        </p:nvSpPr>
        <p:spPr>
          <a:xfrm>
            <a:off x="2485928" y="3658920"/>
            <a:ext cx="2772000" cy="2068251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94742" y="3684875"/>
            <a:ext cx="7168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rPr dirty="0">
                <a:solidFill>
                  <a:srgbClr val="FFC20E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0262" y="4487020"/>
            <a:ext cx="1463333" cy="34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DAILY</a:t>
            </a:r>
            <a:r>
              <a:rPr lang="pt-BR" sz="1600" dirty="0"/>
              <a:t> </a:t>
            </a:r>
            <a:r>
              <a:rPr sz="1600" dirty="0"/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5795" y="5154170"/>
            <a:ext cx="2594755" cy="46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rPr sz="1200" dirty="0" err="1"/>
              <a:t>Gerentes</a:t>
            </a:r>
            <a:r>
              <a:rPr sz="1200" dirty="0"/>
              <a:t> </a:t>
            </a:r>
            <a:r>
              <a:rPr sz="1200" dirty="0" err="1"/>
              <a:t>recebem</a:t>
            </a:r>
            <a:r>
              <a:rPr sz="1200" dirty="0"/>
              <a:t> </a:t>
            </a:r>
            <a:r>
              <a:rPr sz="1200" dirty="0" err="1"/>
              <a:t>diariamente</a:t>
            </a:r>
            <a:r>
              <a:rPr sz="1200" dirty="0"/>
              <a:t> </a:t>
            </a:r>
            <a:r>
              <a:rPr sz="1200" dirty="0" err="1"/>
              <a:t>os</a:t>
            </a:r>
            <a:r>
              <a:rPr sz="1200" dirty="0"/>
              <a:t> 5 KPIs da </a:t>
            </a:r>
            <a:r>
              <a:rPr sz="1200" dirty="0" err="1"/>
              <a:t>campanha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e-mail</a:t>
            </a: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4B9B1063-CDE8-DA3F-77DF-D284CE54A2DA}"/>
              </a:ext>
            </a:extLst>
          </p:cNvPr>
          <p:cNvSpPr/>
          <p:nvPr/>
        </p:nvSpPr>
        <p:spPr>
          <a:xfrm>
            <a:off x="6678720" y="3658919"/>
            <a:ext cx="2772000" cy="2055372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79520" y="3684875"/>
            <a:ext cx="2520000" cy="827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rPr dirty="0"/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9786" y="4364340"/>
            <a:ext cx="929869" cy="587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AUDITORIA</a:t>
            </a:r>
            <a:br>
              <a:rPr sz="1600" dirty="0"/>
            </a:br>
            <a:r>
              <a:rPr sz="1600" dirty="0"/>
              <a:t>PROTHEUS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1920" y="5159460"/>
            <a:ext cx="246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rPr sz="1200" dirty="0"/>
              <a:t>Toda 'Venda' </a:t>
            </a:r>
            <a:r>
              <a:rPr sz="1200" dirty="0" err="1"/>
              <a:t>declarada</a:t>
            </a:r>
            <a:r>
              <a:rPr sz="1200" dirty="0"/>
              <a:t> é </a:t>
            </a:r>
            <a:r>
              <a:rPr sz="1200" dirty="0" err="1"/>
              <a:t>cruzada</a:t>
            </a:r>
            <a:r>
              <a:rPr sz="1200" dirty="0"/>
              <a:t> com </a:t>
            </a:r>
            <a:r>
              <a:rPr sz="1200" dirty="0" err="1"/>
              <a:t>proposta</a:t>
            </a:r>
            <a:r>
              <a:rPr sz="1200" dirty="0"/>
              <a:t> real no ERP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40000"/>
            <a:ext cx="103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[RESULTADO] </a:t>
            </a:r>
            <a:r>
              <a:rPr sz="1600" strike="sngStrike" dirty="0" err="1"/>
              <a:t>Processo</a:t>
            </a:r>
            <a:r>
              <a:rPr sz="1600" strike="sngStrike" dirty="0"/>
              <a:t> </a:t>
            </a:r>
            <a:r>
              <a:rPr sz="1600" strike="sngStrike" dirty="0" err="1"/>
              <a:t>reativo</a:t>
            </a:r>
            <a:r>
              <a:rPr sz="1600" strike="sngStrike" dirty="0"/>
              <a:t> </a:t>
            </a:r>
            <a:r>
              <a:rPr sz="1600" dirty="0"/>
              <a:t>→ </a:t>
            </a:r>
            <a:r>
              <a:rPr sz="1600" dirty="0" err="1"/>
              <a:t>processo</a:t>
            </a:r>
            <a:r>
              <a:rPr sz="1600" dirty="0"/>
              <a:t> </a:t>
            </a:r>
            <a:r>
              <a:rPr sz="1600" dirty="0" err="1"/>
              <a:t>previsível</a:t>
            </a:r>
            <a:r>
              <a:rPr sz="1600" dirty="0"/>
              <a:t> e </a:t>
            </a:r>
            <a:r>
              <a:rPr sz="1600" dirty="0" err="1"/>
              <a:t>auditável</a:t>
            </a:r>
            <a:r>
              <a:rPr sz="1600" dirty="0"/>
              <a:t>. </a:t>
            </a:r>
            <a:r>
              <a:rPr sz="1600" dirty="0" err="1"/>
              <a:t>Nenhuma</a:t>
            </a:r>
            <a:r>
              <a:rPr sz="1600" dirty="0"/>
              <a:t> </a:t>
            </a:r>
            <a:r>
              <a:rPr sz="1600" dirty="0" err="1"/>
              <a:t>máquina</a:t>
            </a:r>
            <a:r>
              <a:rPr sz="1600" dirty="0"/>
              <a:t> da base </a:t>
            </a:r>
            <a:r>
              <a:rPr sz="1600" dirty="0" err="1"/>
              <a:t>ativa</a:t>
            </a:r>
            <a:r>
              <a:rPr sz="1600" dirty="0"/>
              <a:t> some do radar </a:t>
            </a:r>
            <a:r>
              <a:rPr sz="1600" dirty="0" err="1"/>
              <a:t>comercial</a:t>
            </a:r>
            <a:r>
              <a:rPr sz="1600" dirty="0"/>
              <a:t>.</a:t>
            </a:r>
          </a:p>
        </p:txBody>
      </p:sp>
      <p:sp>
        <p:nvSpPr>
          <p:cNvPr id="43" name="Seta: para a Direita 42">
            <a:extLst>
              <a:ext uri="{FF2B5EF4-FFF2-40B4-BE49-F238E27FC236}">
                <a16:creationId xmlns:a16="http://schemas.microsoft.com/office/drawing/2014/main" id="{82C58886-CCA8-110E-7139-7645A3750667}"/>
              </a:ext>
            </a:extLst>
          </p:cNvPr>
          <p:cNvSpPr/>
          <p:nvPr/>
        </p:nvSpPr>
        <p:spPr>
          <a:xfrm>
            <a:off x="3517728" y="2168460"/>
            <a:ext cx="952562" cy="654061"/>
          </a:xfrm>
          <a:prstGeom prst="rightArrow">
            <a:avLst/>
          </a:prstGeom>
          <a:gradFill>
            <a:gsLst>
              <a:gs pos="0">
                <a:srgbClr val="FFC20E">
                  <a:lumMod val="94000"/>
                </a:srgbClr>
              </a:gs>
              <a:gs pos="95000">
                <a:srgbClr val="FFFF00"/>
              </a:gs>
            </a:gsLst>
          </a:gra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4" name="Seta: para a Direita 43">
            <a:extLst>
              <a:ext uri="{FF2B5EF4-FFF2-40B4-BE49-F238E27FC236}">
                <a16:creationId xmlns:a16="http://schemas.microsoft.com/office/drawing/2014/main" id="{C55C5E83-BF47-7FEF-0421-601548CEF382}"/>
              </a:ext>
            </a:extLst>
          </p:cNvPr>
          <p:cNvSpPr/>
          <p:nvPr/>
        </p:nvSpPr>
        <p:spPr>
          <a:xfrm>
            <a:off x="7646939" y="2168460"/>
            <a:ext cx="952562" cy="654061"/>
          </a:xfrm>
          <a:prstGeom prst="rightArrow">
            <a:avLst/>
          </a:prstGeom>
          <a:gradFill>
            <a:gsLst>
              <a:gs pos="0">
                <a:srgbClr val="FFC20E"/>
              </a:gs>
              <a:gs pos="100000">
                <a:srgbClr val="FFFF00"/>
              </a:gs>
            </a:gsLst>
          </a:gra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effectLst>
                <a:glow rad="101600">
                  <a:srgbClr val="FFFF00">
                    <a:alpha val="60000"/>
                  </a:srgbClr>
                </a:glow>
              </a:effectLst>
            </a:endParaRPr>
          </a:p>
        </p:txBody>
      </p:sp>
      <p:sp>
        <p:nvSpPr>
          <p:cNvPr id="46" name="Seta: para a Direita 45">
            <a:extLst>
              <a:ext uri="{FF2B5EF4-FFF2-40B4-BE49-F238E27FC236}">
                <a16:creationId xmlns:a16="http://schemas.microsoft.com/office/drawing/2014/main" id="{9955C347-AE26-0CDA-2E99-D12D41478A78}"/>
              </a:ext>
            </a:extLst>
          </p:cNvPr>
          <p:cNvSpPr/>
          <p:nvPr/>
        </p:nvSpPr>
        <p:spPr>
          <a:xfrm>
            <a:off x="5492593" y="4339420"/>
            <a:ext cx="952562" cy="654061"/>
          </a:xfrm>
          <a:prstGeom prst="rightArrow">
            <a:avLst/>
          </a:prstGeom>
          <a:gradFill>
            <a:gsLst>
              <a:gs pos="0">
                <a:srgbClr val="FFC20E">
                  <a:lumMod val="94000"/>
                </a:srgbClr>
              </a:gs>
              <a:gs pos="95000">
                <a:srgbClr val="FFFF00"/>
              </a:gs>
            </a:gsLst>
          </a:gra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2">
            <a:extLst>
              <a:ext uri="{FF2B5EF4-FFF2-40B4-BE49-F238E27FC236}">
                <a16:creationId xmlns:a16="http://schemas.microsoft.com/office/drawing/2014/main" id="{66E68023-8E18-249D-6811-16F29F1E49A7}"/>
              </a:ext>
            </a:extLst>
          </p:cNvPr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RÉGUA DE ALERTAS // HORÍMETROS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QUANDO O SISTEMA DISPARA O ALERTA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583680" cy="3541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16457"/>
              </p:ext>
            </p:extLst>
          </p:nvPr>
        </p:nvGraphicFramePr>
        <p:xfrm>
          <a:off x="822960" y="1508759"/>
          <a:ext cx="6400800" cy="3316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70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 dirty="0"/>
                        <a:t>Tipo de </a:t>
                      </a:r>
                      <a:r>
                        <a:rPr sz="1800" dirty="0" err="1"/>
                        <a:t>Peça</a:t>
                      </a:r>
                      <a:endParaRPr sz="1800" dirty="0"/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 dirty="0" err="1"/>
                        <a:t>Equipamento</a:t>
                      </a:r>
                      <a:endParaRPr sz="1800" dirty="0"/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 dirty="0" err="1"/>
                        <a:t>Gatilho</a:t>
                      </a:r>
                      <a:endParaRPr sz="1800" dirty="0"/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703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600" dirty="0"/>
                        <a:t>FPS (</a:t>
                      </a:r>
                      <a:r>
                        <a:rPr sz="1600" dirty="0" err="1"/>
                        <a:t>dentes</a:t>
                      </a:r>
                      <a:r>
                        <a:rPr sz="1600" dirty="0"/>
                        <a:t>, </a:t>
                      </a:r>
                      <a:r>
                        <a:rPr sz="1600" dirty="0" err="1"/>
                        <a:t>lâminas</a:t>
                      </a:r>
                      <a:r>
                        <a:rPr sz="1600" dirty="0"/>
                        <a:t>, </a:t>
                      </a:r>
                      <a:r>
                        <a:rPr sz="1600" dirty="0" err="1"/>
                        <a:t>pontas</a:t>
                      </a:r>
                      <a:r>
                        <a:rPr sz="1600" dirty="0"/>
                        <a:t>)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2000" dirty="0"/>
                        <a:t>Toda a </a:t>
                      </a:r>
                      <a:r>
                        <a:rPr sz="2000" dirty="0" err="1"/>
                        <a:t>frota</a:t>
                      </a:r>
                      <a:r>
                        <a:rPr sz="2000" dirty="0"/>
                        <a:t> </a:t>
                      </a:r>
                      <a:r>
                        <a:rPr sz="2000" dirty="0" err="1"/>
                        <a:t>ativa</a:t>
                      </a:r>
                      <a:endParaRPr sz="2000" dirty="0"/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rPr sz="1800" dirty="0"/>
                        <a:t>A </a:t>
                      </a:r>
                      <a:r>
                        <a:rPr sz="1800" dirty="0" err="1"/>
                        <a:t>cada</a:t>
                      </a:r>
                      <a:r>
                        <a:rPr sz="1800" dirty="0"/>
                        <a:t> +200h de </a:t>
                      </a:r>
                      <a:r>
                        <a:rPr sz="1800" dirty="0" err="1"/>
                        <a:t>operação</a:t>
                      </a:r>
                      <a:endParaRPr sz="1800" dirty="0"/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31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600"/>
                        <a:t>Material Rodante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800" dirty="0" err="1"/>
                        <a:t>Tratores</a:t>
                      </a:r>
                      <a:r>
                        <a:rPr sz="1800" dirty="0"/>
                        <a:t> de </a:t>
                      </a:r>
                      <a:r>
                        <a:rPr sz="1800" dirty="0" err="1"/>
                        <a:t>Esteira</a:t>
                      </a:r>
                      <a:endParaRPr sz="1800" dirty="0"/>
                    </a:p>
                    <a:p>
                      <a:pPr algn="ctr"/>
                      <a:r>
                        <a:rPr dirty="0">
                          <a:solidFill>
                            <a:srgbClr val="FFC000"/>
                          </a:solidFill>
                        </a:rPr>
                        <a:t>(700J, 750J, 850J, 1050K)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rPr sz="1800" dirty="0"/>
                        <a:t>A </a:t>
                      </a:r>
                      <a:r>
                        <a:rPr sz="1800" dirty="0" err="1"/>
                        <a:t>cada</a:t>
                      </a:r>
                      <a:r>
                        <a:rPr sz="1800" dirty="0"/>
                        <a:t> +1.500h de </a:t>
                      </a:r>
                      <a:r>
                        <a:rPr sz="1800" dirty="0" err="1"/>
                        <a:t>operação</a:t>
                      </a:r>
                      <a:endParaRPr sz="1800" dirty="0"/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31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600" dirty="0"/>
                        <a:t>Material </a:t>
                      </a:r>
                      <a:r>
                        <a:rPr sz="1600" dirty="0" err="1"/>
                        <a:t>Rodante</a:t>
                      </a:r>
                      <a:endParaRPr sz="1600" dirty="0"/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800" dirty="0" err="1"/>
                        <a:t>Escavadeiras</a:t>
                      </a:r>
                      <a:endParaRPr sz="1800" dirty="0"/>
                    </a:p>
                    <a:p>
                      <a:pPr algn="ctr"/>
                      <a:r>
                        <a:rPr dirty="0">
                          <a:solidFill>
                            <a:srgbClr val="FFC000"/>
                          </a:solidFill>
                        </a:rPr>
                        <a:t>(130G, 160G, 200G, 210G, 350G…)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rPr sz="1800" dirty="0"/>
                        <a:t>A </a:t>
                      </a:r>
                      <a:r>
                        <a:rPr sz="1800" dirty="0" err="1"/>
                        <a:t>cada</a:t>
                      </a:r>
                      <a:r>
                        <a:rPr sz="1800" dirty="0"/>
                        <a:t> +3.000h de </a:t>
                      </a:r>
                      <a:r>
                        <a:rPr sz="1800" dirty="0" err="1"/>
                        <a:t>operação</a:t>
                      </a:r>
                      <a:endParaRPr sz="1800" dirty="0"/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498079" y="1371600"/>
            <a:ext cx="429768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59" y="1508759"/>
            <a:ext cx="39319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2200" dirty="0"/>
              <a:t>CICLO DE VIDA DO LEAD</a:t>
            </a:r>
          </a:p>
          <a:p>
            <a:pPr algn="ctr">
              <a:spcBef>
                <a:spcPts val="10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200" dirty="0" err="1"/>
              <a:t>Máquina</a:t>
            </a:r>
            <a:r>
              <a:rPr sz="1200" dirty="0"/>
              <a:t> </a:t>
            </a:r>
            <a:r>
              <a:rPr sz="1200" dirty="0" err="1"/>
              <a:t>atinge</a:t>
            </a:r>
            <a:r>
              <a:rPr sz="1200" dirty="0"/>
              <a:t> o </a:t>
            </a:r>
            <a:r>
              <a:rPr sz="1200" dirty="0" err="1"/>
              <a:t>limiar</a:t>
            </a:r>
            <a:r>
              <a:rPr sz="1200" dirty="0"/>
              <a:t> de horas</a:t>
            </a:r>
          </a:p>
          <a:p>
            <a:pPr algn="ctr">
              <a:spcBef>
                <a:spcPts val="400"/>
              </a:spcBef>
              <a:defRPr sz="950" b="1">
                <a:solidFill>
                  <a:srgbClr val="FFC20E"/>
                </a:solidFill>
                <a:latin typeface="Segoe UI"/>
              </a:defRPr>
            </a:pPr>
            <a:r>
              <a:rPr sz="1200" dirty="0"/>
              <a:t>↓  Sistema </a:t>
            </a:r>
            <a:r>
              <a:rPr sz="1200" dirty="0" err="1"/>
              <a:t>gera</a:t>
            </a:r>
            <a:r>
              <a:rPr sz="1200" dirty="0"/>
              <a:t> o </a:t>
            </a:r>
            <a:r>
              <a:rPr sz="1200" dirty="0" err="1"/>
              <a:t>alerta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planilha</a:t>
            </a:r>
            <a:endParaRPr sz="1200" dirty="0"/>
          </a:p>
          <a:p>
            <a:pPr algn="ctr"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200" dirty="0"/>
              <a:t>↓  Consultor </a:t>
            </a:r>
            <a:r>
              <a:rPr sz="1200" dirty="0" err="1"/>
              <a:t>faz</a:t>
            </a:r>
            <a:r>
              <a:rPr sz="1200" dirty="0"/>
              <a:t> o </a:t>
            </a:r>
            <a:r>
              <a:rPr sz="1200" dirty="0" err="1"/>
              <a:t>contato</a:t>
            </a:r>
            <a:endParaRPr sz="1200" dirty="0"/>
          </a:p>
          <a:p>
            <a:pPr algn="ctr">
              <a:spcBef>
                <a:spcPts val="1000"/>
              </a:spcBef>
              <a:defRPr sz="1000" b="1">
                <a:solidFill>
                  <a:srgbClr val="22C55E"/>
                </a:solidFill>
                <a:latin typeface="Segoe UI"/>
              </a:defRPr>
            </a:pPr>
            <a:r>
              <a:rPr dirty="0"/>
              <a:t>VENDA </a:t>
            </a:r>
            <a:r>
              <a:rPr dirty="0" err="1"/>
              <a:t>ou</a:t>
            </a:r>
            <a:r>
              <a:rPr dirty="0"/>
              <a:t> VENDA PERDIDA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100" dirty="0"/>
              <a:t>→ Marco zero </a:t>
            </a:r>
            <a:r>
              <a:rPr sz="1100" dirty="0" err="1"/>
              <a:t>atualizado</a:t>
            </a:r>
            <a:br>
              <a:rPr sz="1100" dirty="0"/>
            </a:br>
            <a:r>
              <a:rPr sz="1100" dirty="0"/>
              <a:t>→ Novo </a:t>
            </a:r>
            <a:r>
              <a:rPr sz="1100" dirty="0" err="1"/>
              <a:t>ciclo</a:t>
            </a:r>
            <a:r>
              <a:rPr sz="1100" dirty="0"/>
              <a:t> </a:t>
            </a:r>
            <a:r>
              <a:rPr sz="1100" dirty="0" err="1"/>
              <a:t>inicia</a:t>
            </a:r>
            <a:endParaRPr sz="1100" dirty="0"/>
          </a:p>
          <a:p>
            <a:pPr algn="ctr">
              <a:spcBef>
                <a:spcPts val="1000"/>
              </a:spcBef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dirty="0"/>
              <a:t>SEM CONTATO / EM BRANCO</a:t>
            </a:r>
          </a:p>
          <a:p>
            <a:pPr algn="ctr"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100" dirty="0"/>
              <a:t>→ Lead </a:t>
            </a:r>
            <a:r>
              <a:rPr sz="1100" dirty="0" err="1"/>
              <a:t>permanece</a:t>
            </a:r>
            <a:r>
              <a:rPr sz="1100" dirty="0"/>
              <a:t> </a:t>
            </a:r>
            <a:r>
              <a:rPr sz="1100" dirty="0" err="1"/>
              <a:t>na</a:t>
            </a:r>
            <a:r>
              <a:rPr sz="1100" dirty="0"/>
              <a:t> fila</a:t>
            </a:r>
            <a:br>
              <a:rPr sz="1100" dirty="0"/>
            </a:br>
            <a:r>
              <a:rPr sz="1100" dirty="0"/>
              <a:t>→ Aging </a:t>
            </a:r>
            <a:r>
              <a:rPr sz="1100" dirty="0" err="1"/>
              <a:t>cresce</a:t>
            </a:r>
            <a:r>
              <a:rPr sz="1100" dirty="0"/>
              <a:t> no Daily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04720"/>
            <a:ext cx="6583680" cy="756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14400" y="5141880"/>
            <a:ext cx="621792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CA3AF"/>
                </a:solidFill>
                <a:latin typeface="Segoe UI"/>
              </a:defRPr>
            </a:pPr>
            <a:r>
              <a:t>POR QUE LIMIARES DIFERENTES PARA RODANTE?</a:t>
            </a:r>
          </a:p>
          <a:p>
            <a:pPr>
              <a:spcBef>
                <a:spcPts val="4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Tratores de esteira se locomovem continuamente — esteiras em atrito constante com o solo. Escavadeiras trabalham paradas e rodam as esteiras apenas em transferências. Por isso o desgaste do trator é ~2× mais rápido.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0000"/>
            <a:ext cx="103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[REGRA] </a:t>
            </a:r>
            <a:r>
              <a:rPr sz="1600" dirty="0" err="1"/>
              <a:t>Após</a:t>
            </a:r>
            <a:r>
              <a:rPr sz="1600" dirty="0"/>
              <a:t> Venda </a:t>
            </a:r>
            <a:r>
              <a:rPr sz="1600" dirty="0" err="1"/>
              <a:t>ou</a:t>
            </a:r>
            <a:r>
              <a:rPr sz="1600" dirty="0"/>
              <a:t> Venda Perdida, o horímetro é </a:t>
            </a:r>
            <a:r>
              <a:rPr sz="1600" dirty="0" err="1"/>
              <a:t>zerado</a:t>
            </a:r>
            <a:r>
              <a:rPr sz="1600" dirty="0"/>
              <a:t> e o </a:t>
            </a:r>
            <a:r>
              <a:rPr sz="1600" dirty="0" err="1"/>
              <a:t>ciclo</a:t>
            </a:r>
            <a:r>
              <a:rPr sz="1600" dirty="0"/>
              <a:t> </a:t>
            </a:r>
            <a:r>
              <a:rPr sz="1600" dirty="0" err="1"/>
              <a:t>reinicia</a:t>
            </a:r>
            <a:r>
              <a:rPr sz="1600" dirty="0"/>
              <a:t>. Leads Sem Contato </a:t>
            </a:r>
            <a:r>
              <a:rPr sz="1600" dirty="0" err="1"/>
              <a:t>continuam</a:t>
            </a:r>
            <a:r>
              <a:rPr sz="1600" dirty="0"/>
              <a:t> </a:t>
            </a:r>
            <a:r>
              <a:rPr sz="1600" dirty="0" err="1"/>
              <a:t>acumulando</a:t>
            </a:r>
            <a:r>
              <a:rPr sz="1600" dirty="0"/>
              <a:t> horas.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5889719F-FB83-E2E6-4763-4075C315E891}"/>
              </a:ext>
            </a:extLst>
          </p:cNvPr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RÉGUA DE ALERTAS // CARGA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PRIMEIRA CARGA: PARTINDO DO ZERO SEM RUÍDO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30352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O DESAFIO DA CARGA INICIAL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Na primeira vez que o sistema processa um chassis, não há histórico de quando a última peça foi trocada.</a:t>
            </a:r>
          </a:p>
          <a:p>
            <a:pPr>
              <a:spcBef>
                <a:spcPts val="12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Regra aplicada: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 horímetro atual é registrado como MARCO ZERO.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O primeiro alerta só é gerado após acumular as horas da régua a partir desse momento.</a:t>
            </a:r>
          </a:p>
          <a:p>
            <a:pPr>
              <a:spcBef>
                <a:spcPts val="12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t>Por quê?</a:t>
            </a:r>
          </a:p>
          <a:p>
            <a:pPr>
              <a:spcBef>
                <a:spcPts val="4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Evita gerar centenas de alertas simultâneos ao ativar a campanha — o que sobrecarregaria a equipe no dia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EXEMPLO PRÁTICO — ESCAVADEIRA 200G</a:t>
            </a:r>
          </a:p>
          <a:p>
            <a:pPr>
              <a:spcBef>
                <a:spcPts val="10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Horímetro no momento da ativação:</a:t>
            </a:r>
          </a:p>
          <a:p>
            <a:pPr>
              <a:spcBef>
                <a:spcPts val="400"/>
              </a:spcBef>
              <a:defRPr sz="2200" b="1">
                <a:solidFill>
                  <a:srgbClr val="FFC20E"/>
                </a:solidFill>
                <a:latin typeface="Segoe UI"/>
              </a:defRPr>
            </a:pPr>
            <a:r>
              <a:t>4.200 horas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→ Marco zero registrado: 4.200h</a:t>
            </a:r>
          </a:p>
          <a:p>
            <a:pPr>
              <a:spcBef>
                <a:spcPts val="10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Próximo alerta de FPS:</a:t>
            </a:r>
          </a:p>
          <a:p>
            <a:pPr>
              <a:spcBef>
                <a:spcPts val="200"/>
              </a:spcBef>
              <a:defRPr sz="1400" b="1">
                <a:solidFill>
                  <a:srgbClr val="22C55E"/>
                </a:solidFill>
                <a:latin typeface="Segoe UI"/>
              </a:defRPr>
            </a:pPr>
            <a:r>
              <a:t>4.400h  (+200h)</a:t>
            </a:r>
          </a:p>
          <a:p>
            <a:pPr>
              <a:spcBef>
                <a:spcPts val="8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Próximo alerta de Rodante:</a:t>
            </a:r>
          </a:p>
          <a:p>
            <a:pPr>
              <a:spcBef>
                <a:spcPts val="200"/>
              </a:spcBef>
              <a:defRPr sz="1400" b="1">
                <a:solidFill>
                  <a:srgbClr val="F59E0B"/>
                </a:solidFill>
                <a:latin typeface="Segoe UI"/>
              </a:defRPr>
            </a:pPr>
            <a:r>
              <a:t>7.200h  (+3.000h)</a:t>
            </a:r>
          </a:p>
          <a:p>
            <a:pPr>
              <a:spcBef>
                <a:spcPts val="10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A campanha começa de forma ordenada,</a:t>
            </a:r>
            <a:br/>
            <a:r>
              <a:t>sem ruído desnecessário.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0000"/>
            <a:ext cx="10368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400" dirty="0"/>
              <a:t>[</a:t>
            </a:r>
            <a:r>
              <a:rPr sz="1600" dirty="0"/>
              <a:t>GARANTIA</a:t>
            </a:r>
            <a:r>
              <a:rPr sz="1400" dirty="0"/>
              <a:t>] A </a:t>
            </a:r>
            <a:r>
              <a:rPr sz="1400" dirty="0" err="1"/>
              <a:t>ativação</a:t>
            </a:r>
            <a:r>
              <a:rPr sz="1400" dirty="0"/>
              <a:t> da </a:t>
            </a:r>
            <a:r>
              <a:rPr sz="1400" dirty="0" err="1"/>
              <a:t>campanha</a:t>
            </a:r>
            <a:r>
              <a:rPr lang="pt-BR" sz="1400" dirty="0"/>
              <a:t> é fluida</a:t>
            </a:r>
            <a:r>
              <a:rPr sz="1400" dirty="0"/>
              <a:t>. </a:t>
            </a:r>
            <a:r>
              <a:rPr sz="1400" dirty="0" err="1"/>
              <a:t>Os</a:t>
            </a:r>
            <a:r>
              <a:rPr sz="1400" dirty="0"/>
              <a:t> </a:t>
            </a:r>
            <a:r>
              <a:rPr sz="1400" dirty="0" err="1"/>
              <a:t>alertas</a:t>
            </a:r>
            <a:r>
              <a:rPr sz="1400" dirty="0"/>
              <a:t> </a:t>
            </a:r>
            <a:r>
              <a:rPr sz="1400" dirty="0" err="1"/>
              <a:t>chegam</a:t>
            </a:r>
            <a:r>
              <a:rPr sz="1400" dirty="0"/>
              <a:t> de forma </a:t>
            </a:r>
            <a:r>
              <a:rPr sz="1400" dirty="0" err="1"/>
              <a:t>distribuída</a:t>
            </a:r>
            <a:r>
              <a:rPr sz="1400" dirty="0"/>
              <a:t> </a:t>
            </a:r>
            <a:r>
              <a:rPr sz="1400" dirty="0" err="1"/>
              <a:t>ao</a:t>
            </a:r>
            <a:r>
              <a:rPr sz="1400" dirty="0"/>
              <a:t> </a:t>
            </a:r>
            <a:r>
              <a:rPr sz="1400" dirty="0" err="1"/>
              <a:t>longo</a:t>
            </a:r>
            <a:r>
              <a:rPr sz="1400" dirty="0"/>
              <a:t> das </a:t>
            </a:r>
            <a:r>
              <a:rPr sz="1400" dirty="0" err="1"/>
              <a:t>semanas</a:t>
            </a:r>
            <a:r>
              <a:rPr sz="1400" dirty="0"/>
              <a:t> — </a:t>
            </a:r>
            <a:r>
              <a:rPr sz="1400" dirty="0" err="1"/>
              <a:t>nunca</a:t>
            </a:r>
            <a:r>
              <a:rPr sz="1400" dirty="0"/>
              <a:t> </a:t>
            </a:r>
            <a:r>
              <a:rPr sz="1400" dirty="0" err="1"/>
              <a:t>todos</a:t>
            </a:r>
            <a:r>
              <a:rPr sz="1400" dirty="0"/>
              <a:t> de </a:t>
            </a:r>
            <a:r>
              <a:rPr sz="1400" dirty="0" err="1"/>
              <a:t>uma</a:t>
            </a:r>
            <a:r>
              <a:rPr sz="1400" dirty="0"/>
              <a:t> </a:t>
            </a:r>
            <a:r>
              <a:rPr sz="1400" dirty="0" err="1"/>
              <a:t>vez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INDICADORES // DESEMPENHO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INDICADORES DE DESEMPENHO (KPIs)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493776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4572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dirty="0"/>
              <a:t>OS 4 INDICADORES PRIMÁRIOS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400" dirty="0"/>
              <a:t>◀  ADESÃO COMERCIAL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% dos leads com feedback </a:t>
            </a:r>
            <a:r>
              <a:rPr sz="1600" dirty="0" err="1"/>
              <a:t>registrado</a:t>
            </a:r>
            <a:r>
              <a:rPr sz="1600" dirty="0"/>
              <a:t> pela equipe.</a:t>
            </a:r>
            <a:br>
              <a:rPr sz="1600" dirty="0"/>
            </a:br>
            <a:r>
              <a:rPr sz="1600" dirty="0"/>
              <a:t>Mede </a:t>
            </a:r>
            <a:r>
              <a:rPr sz="1600" dirty="0" err="1"/>
              <a:t>velocidade</a:t>
            </a:r>
            <a:r>
              <a:rPr sz="1600" dirty="0"/>
              <a:t> e </a:t>
            </a:r>
            <a:r>
              <a:rPr sz="1600" dirty="0" err="1"/>
              <a:t>engajamento</a:t>
            </a:r>
            <a:r>
              <a:rPr sz="1600" dirty="0"/>
              <a:t> no </a:t>
            </a:r>
            <a:r>
              <a:rPr sz="1600" dirty="0" err="1"/>
              <a:t>contato</a:t>
            </a:r>
            <a:r>
              <a:rPr sz="1600" dirty="0"/>
              <a:t>.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400" dirty="0">
                <a:solidFill>
                  <a:srgbClr val="22C55E"/>
                </a:solidFill>
              </a:rPr>
              <a:t>◀  CONVERSÃO ACUMULADA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% de leads </a:t>
            </a:r>
            <a:r>
              <a:rPr sz="1600" dirty="0" err="1"/>
              <a:t>tratados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resultaram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</a:t>
            </a:r>
            <a:r>
              <a:rPr sz="1600" dirty="0" err="1"/>
              <a:t>venda</a:t>
            </a:r>
            <a:r>
              <a:rPr sz="1600" dirty="0"/>
              <a:t>.</a:t>
            </a:r>
            <a:br>
              <a:rPr sz="1600" dirty="0"/>
            </a:br>
            <a:r>
              <a:rPr sz="1600" dirty="0"/>
              <a:t>Mede </a:t>
            </a:r>
            <a:r>
              <a:rPr sz="1600" dirty="0" err="1"/>
              <a:t>eficiência</a:t>
            </a:r>
            <a:r>
              <a:rPr sz="1600" dirty="0"/>
              <a:t> do </a:t>
            </a:r>
            <a:r>
              <a:rPr sz="1600" dirty="0" err="1"/>
              <a:t>discurso</a:t>
            </a:r>
            <a:r>
              <a:rPr sz="1600" dirty="0"/>
              <a:t> </a:t>
            </a:r>
            <a:r>
              <a:rPr sz="1600" dirty="0" err="1"/>
              <a:t>comercial</a:t>
            </a:r>
            <a:r>
              <a:rPr sz="1600" dirty="0"/>
              <a:t>.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400" dirty="0"/>
              <a:t>◀  ADERÊNCIA DE PROPOSTAS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% de '</a:t>
            </a:r>
            <a:r>
              <a:rPr sz="1600" dirty="0" err="1"/>
              <a:t>Vendas</a:t>
            </a:r>
            <a:r>
              <a:rPr sz="1600" dirty="0"/>
              <a:t>' com </a:t>
            </a:r>
            <a:r>
              <a:rPr sz="1600" dirty="0" err="1"/>
              <a:t>proposta</a:t>
            </a:r>
            <a:r>
              <a:rPr sz="1600" dirty="0"/>
              <a:t> real no </a:t>
            </a:r>
            <a:r>
              <a:rPr sz="1600" dirty="0" err="1"/>
              <a:t>Protheus</a:t>
            </a:r>
            <a:r>
              <a:rPr sz="1600" dirty="0"/>
              <a:t>.</a:t>
            </a:r>
            <a:br>
              <a:rPr sz="1600" dirty="0"/>
            </a:br>
            <a:r>
              <a:rPr sz="1600" dirty="0"/>
              <a:t>A Ponte da </a:t>
            </a:r>
            <a:r>
              <a:rPr sz="1600" dirty="0" err="1"/>
              <a:t>Verdade</a:t>
            </a:r>
            <a:r>
              <a:rPr sz="1600" dirty="0"/>
              <a:t> — </a:t>
            </a:r>
            <a:r>
              <a:rPr sz="1600" dirty="0" err="1"/>
              <a:t>elimina</a:t>
            </a:r>
            <a:r>
              <a:rPr sz="1600" dirty="0"/>
              <a:t> o </a:t>
            </a:r>
            <a:r>
              <a:rPr sz="1600" dirty="0" err="1"/>
              <a:t>autodeclaratório</a:t>
            </a:r>
            <a:r>
              <a:rPr sz="1600" dirty="0"/>
              <a:t>.</a:t>
            </a:r>
          </a:p>
          <a:p>
            <a:pPr>
              <a:spcBef>
                <a:spcPts val="10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r>
              <a:rPr sz="1400" dirty="0">
                <a:solidFill>
                  <a:srgbClr val="22C55E"/>
                </a:solidFill>
              </a:rPr>
              <a:t>◀  FATURAMENTO REALIZADO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Valor </a:t>
            </a:r>
            <a:r>
              <a:rPr sz="1600" dirty="0" err="1"/>
              <a:t>em</a:t>
            </a:r>
            <a:r>
              <a:rPr sz="1600" dirty="0"/>
              <a:t> R$ das </a:t>
            </a:r>
            <a:r>
              <a:rPr sz="1600" dirty="0" err="1"/>
              <a:t>propostas</a:t>
            </a:r>
            <a:r>
              <a:rPr sz="1600" dirty="0"/>
              <a:t> </a:t>
            </a:r>
            <a:r>
              <a:rPr sz="1600" dirty="0" err="1"/>
              <a:t>validadas</a:t>
            </a:r>
            <a:r>
              <a:rPr sz="1600" dirty="0"/>
              <a:t> no ERP.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940000"/>
            <a:ext cx="103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[GOVERNANÇA] </a:t>
            </a:r>
            <a:r>
              <a:rPr sz="1600" dirty="0" err="1"/>
              <a:t>Os</a:t>
            </a:r>
            <a:r>
              <a:rPr sz="1600" dirty="0"/>
              <a:t> KPIs </a:t>
            </a:r>
            <a:r>
              <a:rPr sz="1600" dirty="0" err="1"/>
              <a:t>são</a:t>
            </a:r>
            <a:r>
              <a:rPr sz="1600" dirty="0"/>
              <a:t> </a:t>
            </a:r>
            <a:r>
              <a:rPr sz="1600" dirty="0" err="1"/>
              <a:t>enviados</a:t>
            </a:r>
            <a:r>
              <a:rPr sz="1600" dirty="0"/>
              <a:t> </a:t>
            </a:r>
            <a:r>
              <a:rPr sz="1600" dirty="0" err="1"/>
              <a:t>diariamente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e-mail para </a:t>
            </a:r>
            <a:r>
              <a:rPr sz="1600" dirty="0" err="1"/>
              <a:t>os</a:t>
            </a:r>
            <a:r>
              <a:rPr sz="1600" dirty="0"/>
              <a:t> 8 </a:t>
            </a:r>
            <a:r>
              <a:rPr sz="1600" dirty="0" err="1"/>
              <a:t>destinatários</a:t>
            </a:r>
            <a:r>
              <a:rPr sz="1600" dirty="0"/>
              <a:t> do Daily Report — </a:t>
            </a:r>
            <a:r>
              <a:rPr sz="1600" dirty="0" err="1"/>
              <a:t>sem</a:t>
            </a:r>
            <a:r>
              <a:rPr sz="1600" dirty="0"/>
              <a:t> </a:t>
            </a:r>
            <a:r>
              <a:rPr sz="1600" dirty="0" err="1"/>
              <a:t>necessidade</a:t>
            </a:r>
            <a:r>
              <a:rPr sz="1600" dirty="0"/>
              <a:t> de </a:t>
            </a:r>
            <a:r>
              <a:rPr sz="1600" dirty="0" err="1"/>
              <a:t>acessar</a:t>
            </a:r>
            <a:r>
              <a:rPr sz="1600" dirty="0"/>
              <a:t> </a:t>
            </a:r>
            <a:r>
              <a:rPr sz="1600" dirty="0" err="1"/>
              <a:t>planilha</a:t>
            </a:r>
            <a:r>
              <a:rPr sz="1600" dirty="0"/>
              <a:t>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AEE9024E-16F6-344B-A976-8A9155CE2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097371"/>
            <a:ext cx="6024880" cy="26632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INDICADORES //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METODOLOGIA E AGING COMERCIAL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493776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578167"/>
            <a:ext cx="4572000" cy="4006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1400" dirty="0"/>
              <a:t>AGING E PIPELINE FINANCEIRO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400" dirty="0"/>
              <a:t>◀  </a:t>
            </a:r>
            <a:r>
              <a:rPr lang="pt-BR" sz="1400" dirty="0" err="1"/>
              <a:t>Aging</a:t>
            </a:r>
            <a:r>
              <a:rPr lang="pt-BR" sz="1400" dirty="0"/>
              <a:t> Médio de Tratativa Comercial</a:t>
            </a:r>
            <a:endParaRPr sz="1400" dirty="0"/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Dias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médios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primeiro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contato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após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alerta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.</a:t>
            </a:r>
            <a:br>
              <a:rPr sz="1400" b="1" dirty="0">
                <a:solidFill>
                  <a:schemeClr val="bg1">
                    <a:lumMod val="85000"/>
                  </a:schemeClr>
                </a:solidFill>
              </a:rPr>
            </a:b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Alerta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 para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perda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 de timing </a:t>
            </a:r>
            <a:r>
              <a:rPr sz="1400" b="1" dirty="0" err="1">
                <a:solidFill>
                  <a:schemeClr val="bg1">
                    <a:lumMod val="85000"/>
                  </a:schemeClr>
                </a:solidFill>
              </a:rPr>
              <a:t>preventivo</a:t>
            </a:r>
            <a:r>
              <a:rPr sz="1400" b="1" dirty="0">
                <a:solidFill>
                  <a:schemeClr val="bg1">
                    <a:lumMod val="85000"/>
                  </a:schemeClr>
                </a:solidFill>
              </a:rPr>
              <a:t>. </a:t>
            </a:r>
            <a:endParaRPr lang="pt-BR" sz="14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endParaRPr lang="pt-BR" sz="1400" dirty="0"/>
          </a:p>
          <a:p>
            <a:pPr>
              <a:spcBef>
                <a:spcPts val="10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r>
              <a:rPr lang="pt-BR" sz="1400" dirty="0"/>
              <a:t>◀  Potencial Financeiro de Alertas Ativos</a:t>
            </a:r>
          </a:p>
          <a:p>
            <a:pPr>
              <a:spcBef>
                <a:spcPts val="10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P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ropostas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abertas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 no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Protheus</a:t>
            </a: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vinculadas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 à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campanha</a:t>
            </a: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 mensurados em R$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Visibilidade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financeira</a:t>
            </a: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do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que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está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em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85000"/>
                  </a:schemeClr>
                </a:solidFill>
              </a:rPr>
              <a:t>negociação</a:t>
            </a:r>
            <a:r>
              <a:rPr sz="1400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Bef>
                <a:spcPts val="10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endParaRPr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Bef>
                <a:spcPts val="1400"/>
              </a:spcBef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1400" dirty="0"/>
              <a:t>LEITURA DO PAINEL</a:t>
            </a:r>
          </a:p>
          <a:p>
            <a:pPr>
              <a:spcBef>
                <a:spcPts val="400"/>
              </a:spcBef>
              <a:defRPr sz="950" b="1">
                <a:solidFill>
                  <a:srgbClr val="EF4444"/>
                </a:solidFill>
                <a:latin typeface="Segoe UI"/>
              </a:defRPr>
            </a:pPr>
            <a:r>
              <a:rPr sz="1400" dirty="0"/>
              <a:t>Aging alto = timing </a:t>
            </a:r>
            <a:r>
              <a:rPr sz="1400" dirty="0" err="1"/>
              <a:t>preventivo</a:t>
            </a:r>
            <a:r>
              <a:rPr sz="1400" dirty="0"/>
              <a:t> </a:t>
            </a:r>
            <a:r>
              <a:rPr sz="1400" dirty="0" err="1"/>
              <a:t>sendo</a:t>
            </a:r>
            <a:r>
              <a:rPr sz="1400" dirty="0"/>
              <a:t> </a:t>
            </a:r>
            <a:r>
              <a:rPr sz="1400" dirty="0" err="1"/>
              <a:t>perdido</a:t>
            </a:r>
            <a:endParaRPr sz="1400" dirty="0"/>
          </a:p>
          <a:p>
            <a:pPr>
              <a:spcBef>
                <a:spcPts val="4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rPr sz="1400" dirty="0" err="1"/>
              <a:t>Aderência</a:t>
            </a:r>
            <a:r>
              <a:rPr sz="1400" dirty="0"/>
              <a:t> </a:t>
            </a:r>
            <a:r>
              <a:rPr sz="1400" dirty="0" err="1"/>
              <a:t>baixa</a:t>
            </a:r>
            <a:r>
              <a:rPr sz="1400" dirty="0"/>
              <a:t> = </a:t>
            </a:r>
            <a:r>
              <a:rPr sz="1400" dirty="0" err="1"/>
              <a:t>resultado</a:t>
            </a:r>
            <a:r>
              <a:rPr sz="1400" dirty="0"/>
              <a:t> </a:t>
            </a:r>
            <a:r>
              <a:rPr sz="1400" dirty="0" err="1"/>
              <a:t>autodeclaratório</a:t>
            </a:r>
            <a:endParaRPr sz="1400" dirty="0"/>
          </a:p>
          <a:p>
            <a:pPr>
              <a:spcBef>
                <a:spcPts val="400"/>
              </a:spcBef>
              <a:defRPr sz="950" b="1">
                <a:solidFill>
                  <a:srgbClr val="22C55E"/>
                </a:solidFill>
                <a:latin typeface="Segoe UI"/>
              </a:defRPr>
            </a:pPr>
            <a:r>
              <a:rPr sz="1400" dirty="0" err="1"/>
              <a:t>Conversão</a:t>
            </a:r>
            <a:r>
              <a:rPr sz="1400" dirty="0"/>
              <a:t> </a:t>
            </a:r>
            <a:r>
              <a:rPr sz="1400" dirty="0" err="1"/>
              <a:t>crescente</a:t>
            </a:r>
            <a:r>
              <a:rPr sz="1400" dirty="0"/>
              <a:t> = </a:t>
            </a:r>
            <a:r>
              <a:rPr sz="1400" dirty="0" err="1"/>
              <a:t>discurso</a:t>
            </a:r>
            <a:r>
              <a:rPr sz="1400" dirty="0"/>
              <a:t> </a:t>
            </a:r>
            <a:r>
              <a:rPr sz="1400" dirty="0" err="1"/>
              <a:t>eficaz</a:t>
            </a:r>
            <a:endParaRPr sz="1400" dirty="0"/>
          </a:p>
        </p:txBody>
      </p:sp>
      <p:sp>
        <p:nvSpPr>
          <p:cNvPr id="12" name="Rectangle 11"/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940000"/>
            <a:ext cx="103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</a:t>
            </a:r>
            <a:r>
              <a:rPr lang="pt-BR" sz="1600" dirty="0"/>
              <a:t>AUTONOMIA</a:t>
            </a:r>
            <a:r>
              <a:rPr sz="1600" dirty="0"/>
              <a:t>] </a:t>
            </a:r>
            <a:r>
              <a:rPr sz="1600" dirty="0" err="1"/>
              <a:t>Gerentes</a:t>
            </a:r>
            <a:r>
              <a:rPr sz="1600" dirty="0"/>
              <a:t> e </a:t>
            </a:r>
            <a:r>
              <a:rPr sz="1600" dirty="0" err="1"/>
              <a:t>coordenadores</a:t>
            </a:r>
            <a:r>
              <a:rPr sz="1600" dirty="0"/>
              <a:t> </a:t>
            </a:r>
            <a:r>
              <a:rPr sz="1600" dirty="0" err="1"/>
              <a:t>recebem</a:t>
            </a:r>
            <a:r>
              <a:rPr sz="1600" dirty="0"/>
              <a:t> </a:t>
            </a:r>
            <a:r>
              <a:rPr sz="1600" dirty="0" err="1"/>
              <a:t>os</a:t>
            </a:r>
            <a:r>
              <a:rPr sz="1600" dirty="0"/>
              <a:t> </a:t>
            </a:r>
            <a:r>
              <a:rPr sz="1600" dirty="0" err="1"/>
              <a:t>mesmos</a:t>
            </a:r>
            <a:r>
              <a:rPr sz="1600" dirty="0"/>
              <a:t> KPIs </a:t>
            </a:r>
            <a:r>
              <a:rPr sz="1600" dirty="0" err="1"/>
              <a:t>diariamente</a:t>
            </a:r>
            <a:r>
              <a:rPr sz="1600" dirty="0"/>
              <a:t> — </a:t>
            </a:r>
            <a:r>
              <a:rPr sz="1600" dirty="0" err="1"/>
              <a:t>mesma</a:t>
            </a:r>
            <a:r>
              <a:rPr sz="1600" dirty="0"/>
              <a:t> </a:t>
            </a:r>
            <a:r>
              <a:rPr sz="1600" dirty="0" err="1"/>
              <a:t>visibilidade</a:t>
            </a:r>
            <a:r>
              <a:rPr sz="1600" dirty="0"/>
              <a:t>, </a:t>
            </a:r>
            <a:r>
              <a:rPr sz="1600" dirty="0" err="1"/>
              <a:t>comparação</a:t>
            </a:r>
            <a:r>
              <a:rPr sz="1600" dirty="0"/>
              <a:t> </a:t>
            </a:r>
            <a:r>
              <a:rPr sz="1600" dirty="0" err="1"/>
              <a:t>justa</a:t>
            </a:r>
            <a:r>
              <a:rPr sz="1600" dirty="0"/>
              <a:t> entre </a:t>
            </a:r>
            <a:r>
              <a:rPr sz="1600" dirty="0" err="1"/>
              <a:t>regiões</a:t>
            </a:r>
            <a:r>
              <a:rPr sz="1600" dirty="0"/>
              <a:t>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00C2DE66-D4C4-EFA4-2A7C-6D4507512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27" y="2166695"/>
            <a:ext cx="6182594" cy="1930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GOVERNANÇA // AUDITORIA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 PONTE DA VERDADE: PLANILHA × PROTHEUS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30352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59"/>
            <a:ext cx="4937760" cy="34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1600" dirty="0"/>
              <a:t>COMO A AUDITORIA FUNCIONA</a:t>
            </a:r>
          </a:p>
          <a:p>
            <a:pPr>
              <a:spcBef>
                <a:spcPts val="10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1. Consultor </a:t>
            </a:r>
            <a:r>
              <a:rPr sz="1600" dirty="0" err="1"/>
              <a:t>registra</a:t>
            </a:r>
            <a:r>
              <a:rPr sz="1600" dirty="0"/>
              <a:t> 'Venda'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planilha</a:t>
            </a:r>
            <a:endParaRPr sz="1600" dirty="0"/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2. Sistema </a:t>
            </a:r>
            <a:r>
              <a:rPr sz="1600" dirty="0" err="1"/>
              <a:t>extrai</a:t>
            </a:r>
            <a:r>
              <a:rPr sz="1600" dirty="0"/>
              <a:t> leads </a:t>
            </a:r>
            <a:r>
              <a:rPr sz="1600" dirty="0" err="1"/>
              <a:t>marcados</a:t>
            </a:r>
            <a:r>
              <a:rPr sz="1600" dirty="0"/>
              <a:t> </a:t>
            </a:r>
            <a:r>
              <a:rPr sz="1600" dirty="0" err="1"/>
              <a:t>como</a:t>
            </a:r>
            <a:r>
              <a:rPr sz="1600" dirty="0"/>
              <a:t> Venda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3. </a:t>
            </a:r>
            <a:r>
              <a:rPr sz="1600" dirty="0" err="1"/>
              <a:t>Cruza</a:t>
            </a:r>
            <a:r>
              <a:rPr sz="1600" dirty="0"/>
              <a:t> com </a:t>
            </a:r>
            <a:r>
              <a:rPr sz="1600" dirty="0" err="1"/>
              <a:t>propostas</a:t>
            </a:r>
            <a:r>
              <a:rPr sz="1600" dirty="0"/>
              <a:t> reais do ERP </a:t>
            </a:r>
            <a:r>
              <a:rPr sz="1600" dirty="0" err="1"/>
              <a:t>Protheus</a:t>
            </a:r>
            <a:endParaRPr sz="1600" dirty="0"/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4. </a:t>
            </a:r>
            <a:r>
              <a:rPr sz="1600" dirty="0" err="1"/>
              <a:t>Calcula</a:t>
            </a:r>
            <a:r>
              <a:rPr sz="1600" dirty="0"/>
              <a:t> </a:t>
            </a:r>
            <a:r>
              <a:rPr sz="1600" dirty="0" err="1"/>
              <a:t>Aderência</a:t>
            </a:r>
            <a:r>
              <a:rPr sz="1600" dirty="0"/>
              <a:t> de </a:t>
            </a:r>
            <a:r>
              <a:rPr sz="1600" dirty="0" err="1"/>
              <a:t>Propostas</a:t>
            </a:r>
            <a:r>
              <a:rPr sz="1600" dirty="0"/>
              <a:t> (KPI)</a:t>
            </a:r>
          </a:p>
          <a:p>
            <a:pPr>
              <a:spcBef>
                <a:spcPts val="200"/>
              </a:spcBef>
              <a:defRPr sz="600" b="0">
                <a:solidFill>
                  <a:srgbClr val="FFFFFF"/>
                </a:solidFill>
                <a:latin typeface="Segoe UI"/>
              </a:defRPr>
            </a:pPr>
            <a:endParaRPr sz="1600" dirty="0"/>
          </a:p>
          <a:p>
            <a:pPr>
              <a:spcBef>
                <a:spcPts val="800"/>
              </a:spcBef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sz="1600" dirty="0"/>
              <a:t>Venda SEM </a:t>
            </a:r>
            <a:r>
              <a:rPr sz="1600" dirty="0" err="1"/>
              <a:t>proposta</a:t>
            </a:r>
            <a:r>
              <a:rPr sz="1600" dirty="0"/>
              <a:t> no </a:t>
            </a:r>
            <a:r>
              <a:rPr sz="1600" dirty="0" err="1"/>
              <a:t>Protheus</a:t>
            </a:r>
            <a:r>
              <a:rPr sz="1600" dirty="0"/>
              <a:t>:</a:t>
            </a:r>
          </a:p>
          <a:p>
            <a:pPr>
              <a:spcBef>
                <a:spcPts val="2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→ </a:t>
            </a:r>
            <a:r>
              <a:rPr sz="1600" dirty="0" err="1"/>
              <a:t>Aparece</a:t>
            </a:r>
            <a:r>
              <a:rPr sz="1600" dirty="0"/>
              <a:t> </a:t>
            </a:r>
            <a:r>
              <a:rPr sz="1600" dirty="0" err="1"/>
              <a:t>imediatamente</a:t>
            </a:r>
            <a:r>
              <a:rPr sz="1600" dirty="0"/>
              <a:t> no KPI de </a:t>
            </a:r>
            <a:r>
              <a:rPr sz="1600" dirty="0" err="1"/>
              <a:t>Aderência</a:t>
            </a:r>
            <a:endParaRPr sz="1600" dirty="0"/>
          </a:p>
          <a:p>
            <a:pPr>
              <a:spcBef>
                <a:spcPts val="2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→ </a:t>
            </a:r>
            <a:r>
              <a:rPr sz="1600" dirty="0" err="1"/>
              <a:t>Fica</a:t>
            </a:r>
            <a:r>
              <a:rPr sz="1600" dirty="0"/>
              <a:t> </a:t>
            </a:r>
            <a:r>
              <a:rPr sz="1600" dirty="0" err="1"/>
              <a:t>destacado</a:t>
            </a:r>
            <a:r>
              <a:rPr sz="1600" dirty="0"/>
              <a:t> no Daily Report para o </a:t>
            </a:r>
            <a:r>
              <a:rPr sz="1600" dirty="0" err="1"/>
              <a:t>gerente</a:t>
            </a:r>
            <a:endParaRPr sz="1600" dirty="0"/>
          </a:p>
          <a:p>
            <a:pPr>
              <a:spcBef>
                <a:spcPts val="800"/>
              </a:spcBef>
              <a:defRPr sz="1000" b="1">
                <a:solidFill>
                  <a:srgbClr val="22C55E"/>
                </a:solidFill>
                <a:latin typeface="Segoe UI"/>
              </a:defRPr>
            </a:pPr>
            <a:r>
              <a:rPr sz="1600" dirty="0"/>
              <a:t>Venda COM </a:t>
            </a:r>
            <a:r>
              <a:rPr sz="1600" dirty="0" err="1"/>
              <a:t>proposta</a:t>
            </a:r>
            <a:r>
              <a:rPr sz="1600" dirty="0"/>
              <a:t> no </a:t>
            </a:r>
            <a:r>
              <a:rPr sz="1600" dirty="0" err="1"/>
              <a:t>Protheus</a:t>
            </a:r>
            <a:r>
              <a:rPr sz="1600" dirty="0"/>
              <a:t>:</a:t>
            </a:r>
          </a:p>
          <a:p>
            <a:pPr>
              <a:spcBef>
                <a:spcPts val="2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→ </a:t>
            </a:r>
            <a:r>
              <a:rPr sz="1600" dirty="0" err="1"/>
              <a:t>Computada</a:t>
            </a:r>
            <a:r>
              <a:rPr sz="1600" dirty="0"/>
              <a:t> no Pipeline </a:t>
            </a:r>
            <a:r>
              <a:rPr sz="1600" dirty="0" err="1"/>
              <a:t>Financeiro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R$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sz="1600" dirty="0"/>
              <a:t>PROTEÇÃO DOS DADOS NA PLANILHA</a:t>
            </a:r>
          </a:p>
          <a:p>
            <a:pPr>
              <a:spcBef>
                <a:spcPts val="10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rPr sz="1600" dirty="0" err="1"/>
              <a:t>Colunas</a:t>
            </a:r>
            <a:r>
              <a:rPr sz="1600" dirty="0"/>
              <a:t> de </a:t>
            </a:r>
            <a:r>
              <a:rPr sz="1600" dirty="0" err="1"/>
              <a:t>origem</a:t>
            </a:r>
            <a:r>
              <a:rPr sz="1600" dirty="0"/>
              <a:t> BLOQUEADAS: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• Chassi, </a:t>
            </a:r>
            <a:r>
              <a:rPr sz="1600" dirty="0" err="1"/>
              <a:t>Cliente</a:t>
            </a:r>
            <a:r>
              <a:rPr sz="1600" dirty="0"/>
              <a:t>, CNPJ, Modelo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Motivo</a:t>
            </a:r>
            <a:r>
              <a:rPr sz="1600" dirty="0"/>
              <a:t> do </a:t>
            </a:r>
            <a:r>
              <a:rPr sz="1600" dirty="0" err="1"/>
              <a:t>alerta</a:t>
            </a:r>
            <a:r>
              <a:rPr sz="1600" dirty="0"/>
              <a:t>, Horímetro</a:t>
            </a:r>
          </a:p>
          <a:p>
            <a:pPr>
              <a:spcBef>
                <a:spcPts val="10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Consultores </a:t>
            </a:r>
            <a:r>
              <a:rPr sz="1600" dirty="0" err="1"/>
              <a:t>só</a:t>
            </a:r>
            <a:r>
              <a:rPr sz="1600" dirty="0"/>
              <a:t> </a:t>
            </a:r>
            <a:r>
              <a:rPr sz="1600" dirty="0" err="1"/>
              <a:t>editam</a:t>
            </a:r>
            <a:r>
              <a:rPr sz="1600" dirty="0"/>
              <a:t>: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• Status (Venda / Venda Perdida / Sem Contato)</a:t>
            </a:r>
            <a:br>
              <a:rPr sz="1600" dirty="0"/>
            </a:br>
            <a:r>
              <a:rPr sz="1600" dirty="0"/>
              <a:t>• Campo de </a:t>
            </a:r>
            <a:r>
              <a:rPr sz="1600" dirty="0" err="1"/>
              <a:t>observações</a:t>
            </a:r>
            <a:r>
              <a:rPr sz="1600" dirty="0"/>
              <a:t> livres</a:t>
            </a:r>
          </a:p>
          <a:p>
            <a:pPr>
              <a:spcBef>
                <a:spcPts val="10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Snapshot </a:t>
            </a:r>
            <a:r>
              <a:rPr sz="1600" dirty="0" err="1"/>
              <a:t>diário</a:t>
            </a:r>
            <a:r>
              <a:rPr sz="1600" dirty="0"/>
              <a:t>:</a:t>
            </a:r>
          </a:p>
          <a:p>
            <a:pPr>
              <a:spcBef>
                <a:spcPts val="4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Antes de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atualização</a:t>
            </a:r>
            <a:r>
              <a:rPr sz="1600" dirty="0"/>
              <a:t> </a:t>
            </a:r>
            <a:r>
              <a:rPr sz="1600" dirty="0" err="1"/>
              <a:t>semanal</a:t>
            </a:r>
            <a:r>
              <a:rPr sz="1600" dirty="0"/>
              <a:t>, o </a:t>
            </a:r>
            <a:r>
              <a:rPr sz="1600" dirty="0" err="1"/>
              <a:t>sistema</a:t>
            </a:r>
            <a:br>
              <a:rPr sz="1600" dirty="0"/>
            </a:br>
            <a:r>
              <a:rPr sz="1600" dirty="0" err="1"/>
              <a:t>salva</a:t>
            </a:r>
            <a:r>
              <a:rPr sz="1600" dirty="0"/>
              <a:t> o </a:t>
            </a:r>
            <a:r>
              <a:rPr sz="1600" dirty="0" err="1"/>
              <a:t>estado</a:t>
            </a:r>
            <a:r>
              <a:rPr sz="1600" dirty="0"/>
              <a:t> </a:t>
            </a:r>
            <a:r>
              <a:rPr sz="1600" dirty="0" err="1"/>
              <a:t>completo</a:t>
            </a:r>
            <a:r>
              <a:rPr sz="1600" dirty="0"/>
              <a:t> da </a:t>
            </a:r>
            <a:r>
              <a:rPr sz="1600" dirty="0" err="1"/>
              <a:t>planilha</a:t>
            </a:r>
            <a:r>
              <a:rPr sz="1600" dirty="0"/>
              <a:t> para</a:t>
            </a:r>
            <a:br>
              <a:rPr sz="1600" dirty="0"/>
            </a:br>
            <a:r>
              <a:rPr sz="1600" dirty="0" err="1"/>
              <a:t>rastreabilidade</a:t>
            </a:r>
            <a:r>
              <a:rPr sz="1600" dirty="0"/>
              <a:t> </a:t>
            </a:r>
            <a:r>
              <a:rPr sz="1600" dirty="0" err="1"/>
              <a:t>histórica</a:t>
            </a:r>
            <a:r>
              <a:rPr sz="1600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940000"/>
            <a:ext cx="103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[FIM DO AUTODECLARATÓRIO] </a:t>
            </a:r>
            <a:r>
              <a:rPr sz="1600" dirty="0" err="1"/>
              <a:t>Qualquer</a:t>
            </a:r>
            <a:r>
              <a:rPr sz="1600" dirty="0"/>
              <a:t> </a:t>
            </a:r>
            <a:r>
              <a:rPr sz="1600" dirty="0" err="1"/>
              <a:t>resultado</a:t>
            </a:r>
            <a:r>
              <a:rPr sz="1600" dirty="0"/>
              <a:t> </a:t>
            </a:r>
            <a:r>
              <a:rPr sz="1600" dirty="0" err="1"/>
              <a:t>reportado</a:t>
            </a:r>
            <a:r>
              <a:rPr sz="1600" dirty="0"/>
              <a:t> </a:t>
            </a:r>
            <a:r>
              <a:rPr sz="1600" dirty="0" err="1"/>
              <a:t>sem</a:t>
            </a:r>
            <a:r>
              <a:rPr sz="1600" dirty="0"/>
              <a:t> </a:t>
            </a:r>
            <a:r>
              <a:rPr sz="1600" dirty="0" err="1"/>
              <a:t>evidência</a:t>
            </a:r>
            <a:r>
              <a:rPr sz="1600" dirty="0"/>
              <a:t> no ERP é </a:t>
            </a:r>
            <a:r>
              <a:rPr sz="1600" dirty="0" err="1"/>
              <a:t>detectado</a:t>
            </a:r>
            <a:r>
              <a:rPr sz="1600" dirty="0"/>
              <a:t> </a:t>
            </a:r>
            <a:r>
              <a:rPr sz="1600" dirty="0" err="1"/>
              <a:t>automaticamente</a:t>
            </a:r>
            <a:r>
              <a:rPr sz="1600" dirty="0"/>
              <a:t> — </a:t>
            </a:r>
            <a:r>
              <a:rPr sz="1600" dirty="0" err="1"/>
              <a:t>tornando</a:t>
            </a:r>
            <a:r>
              <a:rPr sz="1600" dirty="0"/>
              <a:t> </a:t>
            </a:r>
            <a:r>
              <a:rPr sz="1600" dirty="0" err="1"/>
              <a:t>os</a:t>
            </a:r>
            <a:r>
              <a:rPr sz="1600" dirty="0"/>
              <a:t> </a:t>
            </a:r>
            <a:r>
              <a:rPr sz="1600" dirty="0" err="1"/>
              <a:t>números</a:t>
            </a:r>
            <a:r>
              <a:rPr sz="1600" dirty="0"/>
              <a:t> </a:t>
            </a:r>
            <a:r>
              <a:rPr sz="1600" dirty="0" err="1"/>
              <a:t>confiáveis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PAPÉIS E RESPONSABILIDADES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QUEM FAZ O QUÊ NA CAMPANHA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69848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652122"/>
              </p:ext>
            </p:extLst>
          </p:nvPr>
        </p:nvGraphicFramePr>
        <p:xfrm>
          <a:off x="822960" y="1508761"/>
          <a:ext cx="10515600" cy="405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90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/>
                        <a:t>Papel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/>
                        <a:t>Responsável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 dirty="0" err="1"/>
                        <a:t>Ação</a:t>
                      </a:r>
                      <a:r>
                        <a:rPr sz="1800" dirty="0"/>
                        <a:t> n</a:t>
                      </a:r>
                      <a:r>
                        <a:rPr lang="pt-BR" sz="1800" dirty="0"/>
                        <a:t>o</a:t>
                      </a:r>
                      <a:r>
                        <a:rPr sz="1800" dirty="0"/>
                        <a:t> </a:t>
                      </a:r>
                      <a:r>
                        <a:rPr lang="pt-BR" sz="1800" dirty="0"/>
                        <a:t>Projeto</a:t>
                      </a:r>
                      <a:endParaRPr sz="1800" dirty="0"/>
                    </a:p>
                  </a:txBody>
                  <a:tcP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90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 dirty="0" err="1"/>
                        <a:t>Gerente</a:t>
                      </a:r>
                      <a:r>
                        <a:rPr sz="1800" dirty="0"/>
                        <a:t> de </a:t>
                      </a:r>
                      <a:r>
                        <a:rPr sz="1800" dirty="0" err="1"/>
                        <a:t>Peças</a:t>
                      </a:r>
                      <a:endParaRPr sz="1800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Roberto Reis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Lidera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reunião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semanal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revisão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metas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terças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);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avalia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KPIs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consolidados</a:t>
                      </a:r>
                      <a:endParaRPr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 dirty="0" err="1"/>
                        <a:t>Gerentes</a:t>
                      </a:r>
                      <a:r>
                        <a:rPr lang="pt-BR" sz="1800" dirty="0"/>
                        <a:t> Regionais</a:t>
                      </a:r>
                      <a:r>
                        <a:rPr sz="1800" dirty="0"/>
                        <a:t> / </a:t>
                      </a:r>
                      <a:r>
                        <a:rPr sz="1800" dirty="0" err="1"/>
                        <a:t>Coordenadores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Regionais</a:t>
                      </a:r>
                      <a:r>
                        <a:rPr lang="pt-BR" sz="1800" dirty="0"/>
                        <a:t> / CSA</a:t>
                      </a:r>
                      <a:endParaRPr sz="1800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latin typeface="+mn-lt"/>
                        </a:rPr>
                        <a:t>Pedro </a:t>
                      </a:r>
                      <a:r>
                        <a:rPr lang="pt-BR" sz="1400" dirty="0" err="1">
                          <a:solidFill>
                            <a:schemeClr val="bg1"/>
                          </a:solidFill>
                          <a:latin typeface="+mn-lt"/>
                        </a:rPr>
                        <a:t>Sarnaglia</a:t>
                      </a:r>
                      <a:r>
                        <a:rPr lang="pt-BR" sz="1400" dirty="0">
                          <a:solidFill>
                            <a:schemeClr val="bg1"/>
                          </a:solidFill>
                          <a:latin typeface="+mn-lt"/>
                        </a:rPr>
                        <a:t>, Leandro Silva, Marcelo Costa, Murilo Nunes, Luciana Borges, Gabriela Rodarte</a:t>
                      </a:r>
                      <a:endParaRPr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Acompanham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o Daily Report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diário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;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cobram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aging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elevado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dos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consultores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;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gerenciam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equipe regional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2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sz="1800" dirty="0"/>
                        <a:t>Consultores de </a:t>
                      </a:r>
                      <a:r>
                        <a:rPr sz="1800" dirty="0" err="1"/>
                        <a:t>Vendas</a:t>
                      </a:r>
                      <a:endParaRPr sz="1800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Aurelio Costa, Moises Carvalho, </a:t>
                      </a:r>
                      <a:r>
                        <a:rPr lang="pt-BR" sz="11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Luis</a:t>
                      </a:r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Barbosa, Graziane Leite, Paula Reis, Luana Machado, Filipe Paiva, Vinicius Lenzi, Danillo Bermudes, </a:t>
                      </a:r>
                      <a:r>
                        <a:rPr lang="pt-BR" sz="11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Andre</a:t>
                      </a:r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Alves, Nathalia Menezes, Tomaz </a:t>
                      </a:r>
                      <a:r>
                        <a:rPr lang="pt-BR" sz="11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Zei</a:t>
                      </a:r>
                      <a:r>
                        <a:rPr lang="pt-BR" sz="11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Danilo Neto, Katia Almeida, Vinícius Araújo, Thiago Goncalves, Bruno Ribeiro, Cesar Gomes, Carlos Pereira</a:t>
                      </a:r>
                      <a:endParaRPr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Realizam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o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contato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ativo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com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os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clientes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;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registram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Venda / Venda Perdida / Sem Contato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90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rPr lang="pt-BR" sz="1800" dirty="0"/>
                        <a:t>Analista</a:t>
                      </a:r>
                      <a:r>
                        <a:rPr sz="1800" dirty="0"/>
                        <a:t> de Dados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>
                          <a:solidFill>
                            <a:schemeClr val="bg1"/>
                          </a:solidFill>
                        </a:rPr>
                        <a:t>Victor Bernardi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Mantém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o motor de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cálculo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atualiza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a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planilha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semanalmente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e </a:t>
                      </a:r>
                      <a:r>
                        <a:rPr sz="1400" dirty="0" err="1">
                          <a:solidFill>
                            <a:schemeClr val="bg1"/>
                          </a:solidFill>
                        </a:rPr>
                        <a:t>dispara</a:t>
                      </a:r>
                      <a:r>
                        <a:rPr sz="1400" dirty="0">
                          <a:solidFill>
                            <a:schemeClr val="bg1"/>
                          </a:solidFill>
                        </a:rPr>
                        <a:t> o Daily Report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480F41D4-AD59-7387-83FE-03C8542F38A9}"/>
              </a:ext>
            </a:extLst>
          </p:cNvPr>
          <p:cNvSpPr txBox="1"/>
          <p:nvPr/>
        </p:nvSpPr>
        <p:spPr>
          <a:xfrm>
            <a:off x="914400" y="5940000"/>
            <a:ext cx="103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</a:t>
            </a:r>
            <a:r>
              <a:rPr lang="pt-BR" sz="1600" dirty="0"/>
              <a:t>SINERGIA</a:t>
            </a:r>
            <a:r>
              <a:rPr sz="1600" dirty="0"/>
              <a:t>] </a:t>
            </a:r>
            <a:r>
              <a:rPr lang="pt-BR" sz="1600" dirty="0"/>
              <a:t>O sucesso depende da execução diária dos registros preciso e do monitoramento constante dos KPIs.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ROADMAP // IMPLANTAÇÃO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PRIMEIROS MARCOS DA CAMPANHA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20E"/>
                </a:solidFill>
                <a:latin typeface="Segoe UI"/>
              </a:defRPr>
            </a:pPr>
            <a:r>
              <a:t>SEMANA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194560"/>
            <a:ext cx="1554480" cy="3657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Primeiro </a:t>
            </a:r>
            <a:r>
              <a:rPr sz="1600" dirty="0" err="1"/>
              <a:t>ciclo</a:t>
            </a:r>
            <a:r>
              <a:rPr sz="1600" dirty="0"/>
              <a:t> </a:t>
            </a:r>
            <a:r>
              <a:rPr sz="1600" dirty="0" err="1"/>
              <a:t>semanal</a:t>
            </a:r>
            <a:r>
              <a:rPr sz="1600" dirty="0"/>
              <a:t> de </a:t>
            </a:r>
            <a:r>
              <a:rPr sz="1600" dirty="0" err="1"/>
              <a:t>alertas</a:t>
            </a:r>
            <a:r>
              <a:rPr sz="1600" dirty="0"/>
              <a:t> </a:t>
            </a:r>
            <a:r>
              <a:rPr sz="1600" dirty="0" err="1"/>
              <a:t>publicado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planilha</a:t>
            </a:r>
            <a:r>
              <a:rPr sz="1600" dirty="0"/>
              <a:t> OneDrive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71362" y="1600200"/>
            <a:ext cx="14927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20E"/>
                </a:solidFill>
                <a:latin typeface="Segoe UI"/>
              </a:defRPr>
            </a:pPr>
            <a:r>
              <a:rPr dirty="0">
                <a:solidFill>
                  <a:srgbClr val="FFC20E"/>
                </a:solidFill>
              </a:rPr>
              <a:t>SEMANA</a:t>
            </a:r>
            <a:r>
              <a:rPr dirty="0"/>
              <a:t>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94560"/>
            <a:ext cx="1554480" cy="3657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331720"/>
            <a:ext cx="2194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rPr dirty="0"/>
              <a:t>Primeiro Daily Report </a:t>
            </a:r>
            <a:r>
              <a:rPr dirty="0" err="1"/>
              <a:t>enviado</a:t>
            </a:r>
            <a:r>
              <a:rPr dirty="0"/>
              <a:t> para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8 </a:t>
            </a:r>
            <a:r>
              <a:rPr sz="1600" dirty="0" err="1"/>
              <a:t>destinatários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1329" y="1554480"/>
            <a:ext cx="1959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rPr lang="pt-BR" dirty="0">
                <a:solidFill>
                  <a:srgbClr val="FFC20E"/>
                </a:solidFill>
              </a:rPr>
              <a:t>Semana</a:t>
            </a:r>
            <a:r>
              <a:rPr lang="pt-BR" dirty="0"/>
              <a:t> 1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583680" y="2194560"/>
            <a:ext cx="155448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C20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21945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600"/>
              <a:t>Primeira auditoria de Aderência de Propostas: planilha × Protheus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39890" y="1600200"/>
            <a:ext cx="9284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Segoe UI"/>
              </a:defRPr>
            </a:pPr>
            <a:r>
              <a:rPr dirty="0"/>
              <a:t>MÊS </a:t>
            </a:r>
            <a:r>
              <a:rPr lang="pt-BR" dirty="0"/>
              <a:t>1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9326880" y="2194560"/>
            <a:ext cx="1554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331720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600"/>
              <a:t>Primeiro benchmark de conversão por região disponível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852160"/>
            <a:ext cx="10728000" cy="720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940000"/>
            <a:ext cx="103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rPr sz="1600" dirty="0"/>
              <a:t>[OBJETIVO] Da </a:t>
            </a:r>
            <a:r>
              <a:rPr sz="1600" dirty="0" err="1"/>
              <a:t>semana</a:t>
            </a:r>
            <a:r>
              <a:rPr sz="1600" dirty="0"/>
              <a:t> 1 </a:t>
            </a:r>
            <a:r>
              <a:rPr sz="1600" dirty="0" err="1"/>
              <a:t>ao</a:t>
            </a:r>
            <a:r>
              <a:rPr sz="1600" dirty="0"/>
              <a:t> </a:t>
            </a:r>
            <a:r>
              <a:rPr sz="1600" dirty="0" err="1"/>
              <a:t>mês</a:t>
            </a:r>
            <a:r>
              <a:rPr sz="1600" dirty="0"/>
              <a:t> 2: do </a:t>
            </a:r>
            <a:r>
              <a:rPr sz="1600" dirty="0" err="1"/>
              <a:t>primeiro</a:t>
            </a:r>
            <a:r>
              <a:rPr sz="1600" dirty="0"/>
              <a:t> </a:t>
            </a:r>
            <a:r>
              <a:rPr sz="1600" dirty="0" err="1"/>
              <a:t>alerta</a:t>
            </a:r>
            <a:r>
              <a:rPr sz="1600" dirty="0"/>
              <a:t> </a:t>
            </a:r>
            <a:r>
              <a:rPr sz="1600" dirty="0" err="1"/>
              <a:t>ao</a:t>
            </a:r>
            <a:r>
              <a:rPr sz="1600" dirty="0"/>
              <a:t> </a:t>
            </a:r>
            <a:r>
              <a:rPr sz="1600" dirty="0" err="1"/>
              <a:t>primeiro</a:t>
            </a:r>
            <a:r>
              <a:rPr sz="1600" dirty="0"/>
              <a:t> benchmark de </a:t>
            </a:r>
            <a:r>
              <a:rPr sz="1600" dirty="0" err="1"/>
              <a:t>resultado</a:t>
            </a:r>
            <a:r>
              <a:rPr sz="1600" dirty="0"/>
              <a:t> — </a:t>
            </a:r>
            <a:r>
              <a:rPr sz="1600" dirty="0" err="1"/>
              <a:t>campanha</a:t>
            </a:r>
            <a:r>
              <a:rPr sz="1600" dirty="0"/>
              <a:t> </a:t>
            </a:r>
            <a:r>
              <a:rPr sz="1600" dirty="0" err="1"/>
              <a:t>rodando</a:t>
            </a:r>
            <a:r>
              <a:rPr sz="1600" dirty="0"/>
              <a:t> e </a:t>
            </a:r>
            <a:r>
              <a:rPr sz="1600" dirty="0" err="1"/>
              <a:t>auditável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</a:t>
            </a:r>
            <a:r>
              <a:rPr lang="pt-BR" sz="1600" dirty="0"/>
              <a:t>30</a:t>
            </a:r>
            <a:r>
              <a:rPr sz="1600" dirty="0"/>
              <a:t> </a:t>
            </a:r>
            <a:r>
              <a:rPr sz="1600" dirty="0" err="1"/>
              <a:t>dias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1328</Words>
  <Application>Microsoft Office PowerPoint</Application>
  <PresentationFormat>Personalizar</PresentationFormat>
  <Paragraphs>168</Paragraphs>
  <Slides>10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Bernardi</cp:lastModifiedBy>
  <cp:revision>6</cp:revision>
  <dcterms:created xsi:type="dcterms:W3CDTF">2013-01-27T09:14:16Z</dcterms:created>
  <dcterms:modified xsi:type="dcterms:W3CDTF">2026-05-29T15:44:08Z</dcterms:modified>
  <cp:category/>
</cp:coreProperties>
</file>